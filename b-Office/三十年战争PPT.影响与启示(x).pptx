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9" r:id="rId5"/>
    <p:sldId id="260" r:id="rId6"/>
    <p:sldId id="261" r:id="rId7"/>
    <p:sldId id="262" r:id="rId8"/>
    <p:sldId id="263" r:id="rId9"/>
  </p:sldIdLst>
  <p:sldSz cx="12192000" cy="6858000"/>
  <p:notesSz cx="6858000" cy="9144000"/>
  <p:custDataLst>
    <p:tags r:id="rId1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gs" Target="tags/tag77.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68.xml"/><Relationship Id="rId5" Type="http://schemas.openxmlformats.org/officeDocument/2006/relationships/hyperlink" Target="https://baike.baidu.com/item/%E7%91%9E%E5%A3%AB?fromModule=lemma_inlink" TargetMode="External"/><Relationship Id="rId4" Type="http://schemas.openxmlformats.org/officeDocument/2006/relationships/image" Target="../media/image2.jpeg"/><Relationship Id="rId3" Type="http://schemas.openxmlformats.org/officeDocument/2006/relationships/tags" Target="../tags/tag67.xml"/><Relationship Id="rId2" Type="http://schemas.openxmlformats.org/officeDocument/2006/relationships/image" Target="../media/image1.png"/><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0.xml"/><Relationship Id="rId2" Type="http://schemas.openxmlformats.org/officeDocument/2006/relationships/image" Target="../media/image3.emf"/><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3.xml"/><Relationship Id="rId2" Type="http://schemas.openxmlformats.org/officeDocument/2006/relationships/image" Target="../media/image5.jpeg"/><Relationship Id="rId1" Type="http://schemas.openxmlformats.org/officeDocument/2006/relationships/tags" Target="../tags/tag7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5.xml"/><Relationship Id="rId2" Type="http://schemas.openxmlformats.org/officeDocument/2006/relationships/image" Target="../media/image6.png"/><Relationship Id="rId1" Type="http://schemas.openxmlformats.org/officeDocument/2006/relationships/tags" Target="../tags/tag7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endParaRPr lang="zh-CN"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2"/>
          <p:cNvPicPr>
            <a:picLocks noChangeAspect="1"/>
          </p:cNvPicPr>
          <p:nvPr>
            <p:custDataLst>
              <p:tags r:id="rId1"/>
            </p:custDataLst>
          </p:nvPr>
        </p:nvPicPr>
        <p:blipFill>
          <a:blip r:embed="rId2">
            <a:lum bright="64000" contrast="-76000"/>
          </a:blip>
          <a:stretch>
            <a:fillRect/>
          </a:stretch>
        </p:blipFill>
        <p:spPr>
          <a:xfrm>
            <a:off x="-635" y="635"/>
            <a:ext cx="12192635" cy="6858000"/>
          </a:xfrm>
          <a:prstGeom prst="rect">
            <a:avLst/>
          </a:prstGeom>
          <a:noFill/>
          <a:ln w="9525">
            <a:noFill/>
          </a:ln>
        </p:spPr>
      </p:pic>
      <p:pic>
        <p:nvPicPr>
          <p:cNvPr id="3" name="图片 -2147482623" descr="IMG_256"/>
          <p:cNvPicPr>
            <a:picLocks noChangeAspect="1"/>
          </p:cNvPicPr>
          <p:nvPr>
            <p:custDataLst>
              <p:tags r:id="rId3"/>
            </p:custDataLst>
          </p:nvPr>
        </p:nvPicPr>
        <p:blipFill>
          <a:blip r:embed="rId4"/>
          <a:stretch>
            <a:fillRect/>
          </a:stretch>
        </p:blipFill>
        <p:spPr>
          <a:xfrm>
            <a:off x="3994150" y="1614805"/>
            <a:ext cx="1778000" cy="1721485"/>
          </a:xfrm>
          <a:prstGeom prst="rect">
            <a:avLst/>
          </a:prstGeom>
          <a:noFill/>
          <a:ln w="9525">
            <a:noFill/>
          </a:ln>
        </p:spPr>
      </p:pic>
      <p:sp>
        <p:nvSpPr>
          <p:cNvPr id="4" name="标题 3"/>
          <p:cNvSpPr>
            <a:spLocks noGrp="1"/>
          </p:cNvSpPr>
          <p:nvPr>
            <p:ph type="title"/>
          </p:nvPr>
        </p:nvSpPr>
        <p:spPr>
          <a:xfrm>
            <a:off x="941705" y="314325"/>
            <a:ext cx="10150475" cy="1015365"/>
          </a:xfrm>
        </p:spPr>
        <p:txBody>
          <a:bodyPr>
            <a:noAutofit/>
          </a:bodyPr>
          <a:p>
            <a:r>
              <a:rPr lang="zh-CN" altLang="en-US"/>
              <a:t>战争的对欧洲的影响</a:t>
            </a:r>
            <a:endParaRPr lang="zh-CN" altLang="en-US"/>
          </a:p>
        </p:txBody>
      </p:sp>
      <p:sp>
        <p:nvSpPr>
          <p:cNvPr id="5" name="内容占位符 4"/>
          <p:cNvSpPr>
            <a:spLocks noGrp="1"/>
          </p:cNvSpPr>
          <p:nvPr>
            <p:ph idx="1"/>
          </p:nvPr>
        </p:nvSpPr>
        <p:spPr>
          <a:xfrm>
            <a:off x="941705" y="1395730"/>
            <a:ext cx="8818880" cy="5843270"/>
          </a:xfrm>
        </p:spPr>
        <p:txBody>
          <a:bodyPr>
            <a:normAutofit lnSpcReduction="10000"/>
          </a:bodyPr>
          <a:p>
            <a:r>
              <a:rPr lang="zh-CN" altLang="en-US" sz="3555">
                <a:solidFill>
                  <a:srgbClr val="FF0000"/>
                </a:solidFill>
              </a:rPr>
              <a:t>德意志分裂</a:t>
            </a:r>
            <a:endParaRPr lang="zh-CN" altLang="en-US" sz="3555">
              <a:solidFill>
                <a:srgbClr val="FF0000"/>
              </a:solidFill>
            </a:endParaRPr>
          </a:p>
          <a:p>
            <a:endParaRPr lang="zh-CN" altLang="en-US" sz="3555">
              <a:solidFill>
                <a:srgbClr val="FF0000"/>
              </a:solidFill>
            </a:endParaRPr>
          </a:p>
          <a:p>
            <a:r>
              <a:rPr lang="zh-CN" altLang="en-US" sz="3200">
                <a:solidFill>
                  <a:srgbClr val="FF0000"/>
                </a:solidFill>
              </a:rPr>
              <a:t>荷兰独立</a:t>
            </a:r>
            <a:endParaRPr lang="zh-CN" altLang="en-US" sz="3200">
              <a:solidFill>
                <a:srgbClr val="FF0000"/>
              </a:solidFill>
            </a:endParaRPr>
          </a:p>
          <a:p>
            <a:r>
              <a:rPr lang="zh-CN" altLang="en-US" sz="3200">
                <a:solidFill>
                  <a:srgbClr val="FF0000"/>
                </a:solidFill>
              </a:rPr>
              <a:t>西班牙衰落</a:t>
            </a:r>
            <a:endParaRPr lang="zh-CN" altLang="en-US" sz="3200">
              <a:solidFill>
                <a:srgbClr val="FF0000"/>
              </a:solidFill>
            </a:endParaRPr>
          </a:p>
          <a:p>
            <a:endParaRPr lang="zh-CN" altLang="en-US" sz="3200">
              <a:solidFill>
                <a:srgbClr val="FF0000"/>
              </a:solidFill>
            </a:endParaRPr>
          </a:p>
          <a:p>
            <a:r>
              <a:rPr lang="zh-CN" altLang="en-US" sz="3200">
                <a:solidFill>
                  <a:srgbClr val="FF0000"/>
                </a:solidFill>
              </a:rPr>
              <a:t>法国兴起</a:t>
            </a:r>
            <a:endParaRPr lang="zh-CN" altLang="en-US" sz="3200">
              <a:solidFill>
                <a:srgbClr val="FF0000"/>
              </a:solidFill>
            </a:endParaRPr>
          </a:p>
          <a:p>
            <a:r>
              <a:rPr lang="zh-CN" altLang="en-US" sz="3200">
                <a:solidFill>
                  <a:srgbClr val="FF0000"/>
                </a:solidFill>
              </a:rPr>
              <a:t>瑞典兴起</a:t>
            </a:r>
            <a:endParaRPr lang="zh-CN" altLang="en-US" sz="3200">
              <a:solidFill>
                <a:srgbClr val="FF0000"/>
              </a:solidFill>
            </a:endParaRPr>
          </a:p>
        </p:txBody>
      </p:sp>
      <p:sp>
        <p:nvSpPr>
          <p:cNvPr id="6" name="文本框 5"/>
          <p:cNvSpPr txBox="1"/>
          <p:nvPr/>
        </p:nvSpPr>
        <p:spPr>
          <a:xfrm>
            <a:off x="5772150" y="1506855"/>
            <a:ext cx="6046470" cy="1014730"/>
          </a:xfrm>
          <a:prstGeom prst="rect">
            <a:avLst/>
          </a:prstGeom>
          <a:noFill/>
        </p:spPr>
        <p:txBody>
          <a:bodyPr wrap="square" rtlCol="0">
            <a:spAutoFit/>
          </a:bodyPr>
          <a:p>
            <a:r>
              <a:rPr lang="zh-CN" altLang="en-US" sz="1000"/>
              <a:t>由于德意志是三十年战争的主要战场，其</a:t>
            </a:r>
            <a:r>
              <a:rPr lang="zh-CN" altLang="en-US" sz="2000">
                <a:solidFill>
                  <a:srgbClr val="FF0000"/>
                </a:solidFill>
              </a:rPr>
              <a:t>经济遭到极大破坏</a:t>
            </a:r>
            <a:r>
              <a:rPr lang="zh-CN" altLang="en-US" sz="1000"/>
              <a:t>。这场战争使德意志各邦国大约被消灭了60%的人口，波美拉尼亚被消灭了65%的人口，西里西亚被消灭了25%的人口，其中男性更有将近一半死亡，十分惨烈；而且战后诸侯国各割地盘，其内部分裂变成不可逆转。战争开始时，神圣罗马帝国只不过是一个空壳。帝国哈布斯堡家族皇帝的实际权力仅局限于他们的家族领地，数百个领主统治着他们各自的公爵领地、侯爵领地、伯爵领地、主教辖区和自由市，很少把皇帝放在眼里。</a:t>
            </a:r>
            <a:endParaRPr lang="zh-CN" altLang="en-US" sz="1000"/>
          </a:p>
        </p:txBody>
      </p:sp>
      <p:sp>
        <p:nvSpPr>
          <p:cNvPr id="7" name="文本框 6"/>
          <p:cNvSpPr txBox="1"/>
          <p:nvPr/>
        </p:nvSpPr>
        <p:spPr>
          <a:xfrm>
            <a:off x="6570980" y="3726815"/>
            <a:ext cx="3990340" cy="368300"/>
          </a:xfrm>
          <a:prstGeom prst="rect">
            <a:avLst/>
          </a:prstGeom>
          <a:noFill/>
        </p:spPr>
        <p:txBody>
          <a:bodyPr wrap="square" rtlCol="0">
            <a:spAutoFit/>
          </a:bodyPr>
          <a:p>
            <a:endParaRPr lang="zh-CN" altLang="en-US"/>
          </a:p>
        </p:txBody>
      </p:sp>
      <p:sp>
        <p:nvSpPr>
          <p:cNvPr id="8" name="文本框 7"/>
          <p:cNvSpPr txBox="1"/>
          <p:nvPr/>
        </p:nvSpPr>
        <p:spPr>
          <a:xfrm>
            <a:off x="5772150" y="2521585"/>
            <a:ext cx="6046470" cy="814705"/>
          </a:xfrm>
          <a:prstGeom prst="rect">
            <a:avLst/>
          </a:prstGeom>
          <a:noFill/>
        </p:spPr>
        <p:txBody>
          <a:bodyPr wrap="square" rtlCol="0">
            <a:spAutoFit/>
          </a:bodyPr>
          <a:p>
            <a:r>
              <a:rPr lang="zh-CN" altLang="en-US" sz="900"/>
              <a:t>战争结束时，情况并没有多少改变。</a:t>
            </a:r>
            <a:r>
              <a:rPr lang="zh-CN" altLang="en-US" sz="2000">
                <a:solidFill>
                  <a:srgbClr val="FF0000"/>
                </a:solidFill>
              </a:rPr>
              <a:t>哈布斯堡家族依然享有帝王的尊贵</a:t>
            </a:r>
            <a:r>
              <a:rPr lang="zh-CN" altLang="en-US" sz="900"/>
              <a:t>，而各类领地实际上依旧是独立的实体。《威斯特伐利亚和约》赋予这些领地的统治者实行他们自己的外交政策的权利，这在理论上使他们比以往任何时候都更加独立。然而实际上，他们早就在奉行自己的外交政策了，不受皇帝约束。因此三十年战争和《和约》对他们的地位没有什么影响。</a:t>
            </a:r>
            <a:endParaRPr lang="zh-CN" altLang="en-US" sz="900"/>
          </a:p>
        </p:txBody>
      </p:sp>
      <p:sp>
        <p:nvSpPr>
          <p:cNvPr id="9" name="文本框 8"/>
          <p:cNvSpPr txBox="1"/>
          <p:nvPr/>
        </p:nvSpPr>
        <p:spPr>
          <a:xfrm>
            <a:off x="3994150" y="3229610"/>
            <a:ext cx="8411210" cy="398780"/>
          </a:xfrm>
          <a:prstGeom prst="rect">
            <a:avLst/>
          </a:prstGeom>
          <a:noFill/>
          <a:ln w="9525">
            <a:noFill/>
          </a:ln>
        </p:spPr>
        <p:txBody>
          <a:bodyPr wrap="square">
            <a:spAutoFit/>
          </a:bodyPr>
          <a:p>
            <a:pPr indent="266700"/>
            <a:r>
              <a:rPr lang="zh-CN" sz="1000" b="0">
                <a:solidFill>
                  <a:srgbClr val="333333"/>
                </a:solidFill>
                <a:latin typeface="微软雅黑" panose="020B0503020204020204" charset="-122"/>
                <a:ea typeface="微软雅黑" panose="020B0503020204020204" charset="-122"/>
              </a:rPr>
              <a:t>这场战争后，荷兰与</a:t>
            </a:r>
            <a:r>
              <a:rPr lang="zh-CN" sz="1000" b="0" u="sng">
                <a:solidFill>
                  <a:srgbClr val="136EC2"/>
                </a:solidFill>
                <a:latin typeface="微软雅黑" panose="020B0503020204020204" charset="-122"/>
                <a:ea typeface="微软雅黑" panose="020B0503020204020204" charset="-122"/>
                <a:hlinkClick r:id="rId5"/>
              </a:rPr>
              <a:t>瑞士</a:t>
            </a:r>
            <a:r>
              <a:rPr lang="zh-CN" sz="1000" b="0">
                <a:solidFill>
                  <a:srgbClr val="333333"/>
                </a:solidFill>
                <a:latin typeface="微软雅黑" panose="020B0503020204020204" charset="-122"/>
                <a:ea typeface="微软雅黑" panose="020B0503020204020204" charset="-122"/>
              </a:rPr>
              <a:t>的独立受到保障，而荷兰不仅正式独立，而且成为新的</a:t>
            </a:r>
            <a:r>
              <a:rPr lang="zh-CN" sz="2000" b="0">
                <a:solidFill>
                  <a:srgbClr val="FF0000"/>
                </a:solidFill>
                <a:latin typeface="微软雅黑" panose="020B0503020204020204" charset="-122"/>
                <a:ea typeface="微软雅黑" panose="020B0503020204020204" charset="-122"/>
              </a:rPr>
              <a:t>海上霸主</a:t>
            </a:r>
            <a:r>
              <a:rPr lang="zh-CN" sz="1000" b="0">
                <a:solidFill>
                  <a:srgbClr val="333333"/>
                </a:solidFill>
                <a:ea typeface="宋体" panose="02010600030101010101" pitchFamily="2" charset="-122"/>
              </a:rPr>
              <a:t>。</a:t>
            </a:r>
            <a:endParaRPr lang="zh-CN" altLang="en-US" sz="1000" b="0">
              <a:solidFill>
                <a:srgbClr val="333333"/>
              </a:solidFill>
              <a:ea typeface="宋体" panose="02010600030101010101" pitchFamily="2" charset="-122"/>
            </a:endParaRPr>
          </a:p>
        </p:txBody>
      </p:sp>
      <p:sp>
        <p:nvSpPr>
          <p:cNvPr id="10" name="文本框 9"/>
          <p:cNvSpPr txBox="1"/>
          <p:nvPr/>
        </p:nvSpPr>
        <p:spPr>
          <a:xfrm>
            <a:off x="3994150" y="5158105"/>
            <a:ext cx="8038465" cy="690880"/>
          </a:xfrm>
          <a:prstGeom prst="rect">
            <a:avLst/>
          </a:prstGeom>
          <a:noFill/>
        </p:spPr>
        <p:txBody>
          <a:bodyPr wrap="square" rtlCol="0">
            <a:noAutofit/>
          </a:bodyPr>
          <a:p>
            <a:r>
              <a:rPr lang="zh-CN" altLang="en-US" sz="1000"/>
              <a:t>法国在这场战争和后续的法西战争中取得了阿尔萨斯-洛林主权，并获得了</a:t>
            </a:r>
            <a:r>
              <a:rPr lang="zh-CN" altLang="en-US" sz="2000">
                <a:solidFill>
                  <a:srgbClr val="FF0000"/>
                </a:solidFill>
              </a:rPr>
              <a:t>欧洲霸主</a:t>
            </a:r>
            <a:r>
              <a:rPr lang="zh-CN" altLang="en-US" sz="1000"/>
              <a:t>的地位，这一地位直到西班牙王位继承战争后被奥地利短暂夺走（但通过波兰王位继承战争重新夺回欧洲霸主的地位直至七年战争或拿破仑战争的结束）。</a:t>
            </a:r>
            <a:endParaRPr lang="zh-CN" altLang="en-US" sz="1000"/>
          </a:p>
        </p:txBody>
      </p:sp>
      <p:sp>
        <p:nvSpPr>
          <p:cNvPr id="11" name="文本框 10"/>
          <p:cNvSpPr txBox="1"/>
          <p:nvPr/>
        </p:nvSpPr>
        <p:spPr>
          <a:xfrm>
            <a:off x="3994150" y="3726815"/>
            <a:ext cx="8037830" cy="706755"/>
          </a:xfrm>
          <a:prstGeom prst="rect">
            <a:avLst/>
          </a:prstGeom>
          <a:noFill/>
        </p:spPr>
        <p:txBody>
          <a:bodyPr wrap="square" rtlCol="0">
            <a:spAutoFit/>
          </a:bodyPr>
          <a:p>
            <a:r>
              <a:rPr lang="zh-CN" altLang="en-US" sz="1000"/>
              <a:t>西班牙在战争中失利，国土上又爆发了加泰罗尼亚大起义与八十年战争，在战后失去鲁西荣与荷兰，《威斯特伐利亚和约》的签订使得西班牙摆脱在德意志与尼德兰的战争，但与法国的战争持续至1659年《比利牛斯和约》的签订，从此彻底失去了欧洲霸主的地位，并于不久之后的西班牙王位继承战争后</a:t>
            </a:r>
            <a:r>
              <a:rPr lang="zh-CN" altLang="en-US" sz="2000">
                <a:solidFill>
                  <a:srgbClr val="FF0000"/>
                </a:solidFill>
              </a:rPr>
              <a:t>彻底失去一流强国的地位</a:t>
            </a:r>
            <a:r>
              <a:rPr lang="zh-CN" altLang="en-US" sz="1000"/>
              <a:t>。</a:t>
            </a:r>
            <a:endParaRPr lang="zh-CN" altLang="en-US" sz="1000"/>
          </a:p>
        </p:txBody>
      </p:sp>
      <p:sp>
        <p:nvSpPr>
          <p:cNvPr id="12" name="文本框 11"/>
          <p:cNvSpPr txBox="1"/>
          <p:nvPr/>
        </p:nvSpPr>
        <p:spPr>
          <a:xfrm>
            <a:off x="3994150" y="5909310"/>
            <a:ext cx="8038465" cy="553085"/>
          </a:xfrm>
          <a:prstGeom prst="rect">
            <a:avLst/>
          </a:prstGeom>
          <a:noFill/>
        </p:spPr>
        <p:txBody>
          <a:bodyPr wrap="square" rtlCol="0">
            <a:spAutoFit/>
          </a:bodyPr>
          <a:p>
            <a:r>
              <a:rPr lang="zh-CN" altLang="en-US" sz="1000"/>
              <a:t>瑞典国王取得了德意志的波罗的海沿岸的大片土地，并因此成为了德意志的诸侯，可以随时插手德意志的内部事务。而且瑞典亦得到五百万杜卡登（Dukaten，德意志货币）的赔款，并从此</a:t>
            </a:r>
            <a:r>
              <a:rPr lang="zh-CN" altLang="en-US" sz="2000">
                <a:solidFill>
                  <a:srgbClr val="FF0000"/>
                </a:solidFill>
              </a:rPr>
              <a:t>一跃成为北欧强国</a:t>
            </a:r>
            <a:r>
              <a:rPr lang="zh-CN" altLang="en-US" sz="1000"/>
              <a:t>。直到北方战争的爆发。</a:t>
            </a:r>
            <a:endParaRPr lang="zh-CN" altLang="en-US" sz="1000"/>
          </a:p>
        </p:txBody>
      </p:sp>
    </p:spTree>
    <p:custDataLst>
      <p:tags r:id="rId6"/>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grayscl/>
            <a:lum bright="60000" contrast="-48000"/>
          </a:blip>
          <a:stretch>
            <a:fillRect/>
          </a:stretch>
        </p:blipFill>
        <p:spPr>
          <a:xfrm>
            <a:off x="-635" y="0"/>
            <a:ext cx="12193270" cy="6905625"/>
          </a:xfrm>
          <a:prstGeom prst="rect">
            <a:avLst/>
          </a:prstGeom>
        </p:spPr>
      </p:pic>
      <p:sp>
        <p:nvSpPr>
          <p:cNvPr id="2" name="标题 1"/>
          <p:cNvSpPr>
            <a:spLocks noGrp="1"/>
          </p:cNvSpPr>
          <p:nvPr>
            <p:ph type="title"/>
          </p:nvPr>
        </p:nvSpPr>
        <p:spPr/>
        <p:txBody>
          <a:bodyPr/>
          <a:p>
            <a:r>
              <a:rPr lang="zh-CN" altLang="en-US"/>
              <a:t>对宗教的影响</a:t>
            </a:r>
            <a:endParaRPr lang="zh-CN" altLang="en-US"/>
          </a:p>
        </p:txBody>
      </p:sp>
      <p:sp>
        <p:nvSpPr>
          <p:cNvPr id="3" name="内容占位符 2"/>
          <p:cNvSpPr>
            <a:spLocks noGrp="1"/>
          </p:cNvSpPr>
          <p:nvPr>
            <p:ph idx="1"/>
          </p:nvPr>
        </p:nvSpPr>
        <p:spPr>
          <a:effectLst/>
        </p:spPr>
        <p:txBody>
          <a:bodyPr>
            <a:normAutofit fontScale="60000"/>
          </a:bodyPr>
          <a:p>
            <a:pPr marL="0" indent="0">
              <a:buNone/>
            </a:pPr>
            <a:r>
              <a:rPr lang="zh-CN" altLang="en-US">
                <a:effectLst>
                  <a:glow rad="190500">
                    <a:schemeClr val="bg1">
                      <a:alpha val="50000"/>
                    </a:schemeClr>
                  </a:glow>
                </a:effectLst>
                <a:sym typeface="+mn-ea"/>
              </a:rPr>
              <a:t> </a:t>
            </a:r>
            <a:r>
              <a:rPr lang="en-US" altLang="zh-CN">
                <a:effectLst>
                  <a:glow rad="190500">
                    <a:schemeClr val="bg1">
                      <a:alpha val="50000"/>
                    </a:schemeClr>
                  </a:glow>
                </a:effectLst>
                <a:sym typeface="+mn-ea"/>
              </a:rPr>
              <a:t>      </a:t>
            </a:r>
            <a:r>
              <a:rPr lang="zh-CN" altLang="en-US" sz="3200">
                <a:ln/>
                <a:solidFill>
                  <a:schemeClr val="tx1"/>
                </a:solidFill>
                <a:effectLst>
                  <a:outerShdw blurRad="38100" dist="19050" dir="2700000" algn="tl" rotWithShape="0">
                    <a:schemeClr val="dk1">
                      <a:alpha val="40000"/>
                    </a:schemeClr>
                  </a:outerShdw>
                </a:effectLst>
                <a:sym typeface="+mn-ea"/>
              </a:rPr>
              <a:t>宗教和平与包容</a:t>
            </a:r>
            <a:r>
              <a:rPr lang="zh-CN" altLang="en-US">
                <a:ln/>
                <a:solidFill>
                  <a:schemeClr val="tx1"/>
                </a:solidFill>
                <a:effectLst>
                  <a:outerShdw blurRad="38100" dist="19050" dir="2700000" algn="tl" rotWithShape="0">
                    <a:schemeClr val="dk1">
                      <a:alpha val="40000"/>
                    </a:schemeClr>
                  </a:outerShdw>
                </a:effectLst>
                <a:sym typeface="+mn-ea"/>
              </a:rPr>
              <a:t>：</a:t>
            </a:r>
            <a:endParaRPr lang="zh-CN" altLang="en-US">
              <a:ln/>
              <a:solidFill>
                <a:schemeClr val="tx1"/>
              </a:solidFill>
              <a:effectLst>
                <a:outerShdw blurRad="38100" dist="19050" dir="2700000" algn="tl" rotWithShape="0">
                  <a:schemeClr val="dk1">
                    <a:alpha val="40000"/>
                  </a:schemeClr>
                </a:outerShdw>
              </a:effectLst>
              <a:sym typeface="+mn-ea"/>
            </a:endParaRPr>
          </a:p>
          <a:p>
            <a:pPr marL="0" indent="0">
              <a:buNone/>
            </a:pPr>
            <a:r>
              <a:rPr lang="zh-CN" altLang="en-US">
                <a:ln/>
                <a:solidFill>
                  <a:schemeClr val="tx1"/>
                </a:solidFill>
                <a:effectLst>
                  <a:outerShdw blurRad="38100" dist="19050" dir="2700000" algn="tl" rotWithShape="0">
                    <a:schemeClr val="dk1">
                      <a:alpha val="40000"/>
                    </a:schemeClr>
                  </a:outerShdw>
                </a:effectLst>
                <a:sym typeface="+mn-ea"/>
              </a:rPr>
              <a:t>三十年战争以宗教改革为背景，天主教和新教之间的冲突成为战争的重要原因之一。然而，随着战争的发展，宗教因素逐渐被政治和领土利益取代。《威斯特伐利亚和约》确认了新教和天主教在神圣罗马帝国内的平等地位，同时各诸侯国可以自由选择信仰。这一和平原则为欧洲带来了相对的宗教包容和稳定。</a:t>
            </a:r>
            <a:endParaRPr lang="zh-CN" altLang="en-US">
              <a:ln/>
              <a:solidFill>
                <a:schemeClr val="tx1"/>
              </a:solidFill>
              <a:effectLst>
                <a:outerShdw blurRad="38100" dist="19050" dir="2700000" algn="tl" rotWithShape="0">
                  <a:schemeClr val="dk1">
                    <a:alpha val="40000"/>
                  </a:schemeClr>
                </a:outerShdw>
              </a:effectLst>
            </a:endParaRPr>
          </a:p>
          <a:p>
            <a:pPr marL="0" indent="0">
              <a:buNone/>
            </a:pPr>
            <a:endParaRPr lang="zh-CN" altLang="en-US">
              <a:ln/>
              <a:solidFill>
                <a:schemeClr val="tx1"/>
              </a:solidFill>
              <a:effectLst>
                <a:outerShdw blurRad="38100" dist="19050" dir="2700000" algn="tl" rotWithShape="0">
                  <a:schemeClr val="dk1">
                    <a:alpha val="40000"/>
                  </a:schemeClr>
                </a:outerShdw>
              </a:effectLst>
            </a:endParaRPr>
          </a:p>
          <a:p>
            <a:r>
              <a:rPr lang="zh-CN" altLang="en-US" sz="3200">
                <a:ln/>
                <a:solidFill>
                  <a:schemeClr val="tx1"/>
                </a:solidFill>
                <a:effectLst>
                  <a:outerShdw blurRad="38100" dist="19050" dir="2700000" algn="tl" rotWithShape="0">
                    <a:schemeClr val="dk1">
                      <a:alpha val="40000"/>
                    </a:schemeClr>
                  </a:outerShdw>
                </a:effectLst>
              </a:rPr>
              <a:t>宗教和政治格局改变</a:t>
            </a:r>
            <a:r>
              <a:rPr lang="zh-CN" altLang="en-US">
                <a:ln/>
                <a:solidFill>
                  <a:schemeClr val="tx1"/>
                </a:solidFill>
                <a:effectLst>
                  <a:outerShdw blurRad="38100" dist="19050" dir="2700000" algn="tl" rotWithShape="0">
                    <a:schemeClr val="dk1">
                      <a:alpha val="40000"/>
                    </a:schemeClr>
                  </a:outerShdw>
                </a:effectLst>
              </a:rPr>
              <a:t>：</a:t>
            </a:r>
            <a:endParaRPr lang="zh-CN" altLang="en-US">
              <a:ln/>
              <a:solidFill>
                <a:schemeClr val="tx1"/>
              </a:solidFill>
              <a:effectLst>
                <a:outerShdw blurRad="38100" dist="19050" dir="2700000" algn="tl" rotWithShape="0">
                  <a:schemeClr val="dk1">
                    <a:alpha val="40000"/>
                  </a:schemeClr>
                </a:outerShdw>
              </a:effectLst>
            </a:endParaRPr>
          </a:p>
          <a:p>
            <a:pPr marL="0" indent="0">
              <a:buNone/>
            </a:pPr>
            <a:r>
              <a:rPr lang="zh-CN" altLang="en-US">
                <a:ln/>
                <a:solidFill>
                  <a:schemeClr val="tx1"/>
                </a:solidFill>
                <a:effectLst>
                  <a:outerShdw blurRad="38100" dist="19050" dir="2700000" algn="tl" rotWithShape="0">
                    <a:schemeClr val="dk1">
                      <a:alpha val="40000"/>
                    </a:schemeClr>
                  </a:outerShdw>
                </a:effectLst>
              </a:rPr>
              <a:t>战争结束后，《威斯特伐利亚和约》（Peace of Westphalia，1648年）签署，确</a:t>
            </a:r>
            <a:r>
              <a:rPr lang="en-US" altLang="zh-CN">
                <a:ln/>
                <a:solidFill>
                  <a:schemeClr val="tx1"/>
                </a:solidFill>
                <a:effectLst>
                  <a:outerShdw blurRad="38100" dist="19050" dir="2700000" algn="tl" rotWithShape="0">
                    <a:schemeClr val="dk1">
                      <a:alpha val="40000"/>
                    </a:schemeClr>
                  </a:outerShdw>
                </a:effectLst>
              </a:rPr>
              <a:t>         </a:t>
            </a:r>
            <a:r>
              <a:rPr lang="zh-CN" altLang="en-US">
                <a:ln/>
                <a:solidFill>
                  <a:schemeClr val="tx1"/>
                </a:solidFill>
                <a:effectLst>
                  <a:outerShdw blurRad="38100" dist="19050" dir="2700000" algn="tl" rotWithShape="0">
                    <a:schemeClr val="dk1">
                      <a:alpha val="40000"/>
                    </a:schemeClr>
                  </a:outerShdw>
                </a:effectLst>
              </a:rPr>
              <a:t>认了各邦主权独立、国家主权和互不干涉的原则，天主教和新教平等共存，这被视为现代国际体系的开端。</a:t>
            </a:r>
            <a:endParaRPr lang="zh-CN" altLang="en-US">
              <a:ln/>
              <a:solidFill>
                <a:schemeClr val="tx1"/>
              </a:solidFill>
              <a:effectLst>
                <a:outerShdw blurRad="38100" dist="19050" dir="2700000" algn="tl" rotWithShape="0">
                  <a:schemeClr val="dk1">
                    <a:alpha val="40000"/>
                  </a:schemeClr>
                </a:outerShdw>
              </a:effectLst>
            </a:endParaRPr>
          </a:p>
          <a:p>
            <a:r>
              <a:rPr lang="zh-CN" altLang="en-US" sz="3555">
                <a:ln/>
                <a:solidFill>
                  <a:schemeClr val="tx1"/>
                </a:solidFill>
                <a:effectLst>
                  <a:outerShdw blurRad="38100" dist="19050" dir="2700000" algn="tl" rotWithShape="0">
                    <a:schemeClr val="dk1">
                      <a:alpha val="40000"/>
                    </a:schemeClr>
                  </a:outerShdw>
                </a:effectLst>
              </a:rPr>
              <a:t>宗教改革的推动：</a:t>
            </a:r>
            <a:endParaRPr lang="zh-CN" altLang="en-US" sz="3555">
              <a:ln/>
              <a:solidFill>
                <a:schemeClr val="tx1"/>
              </a:solidFill>
              <a:effectLst>
                <a:outerShdw blurRad="38100" dist="19050" dir="2700000" algn="tl" rotWithShape="0">
                  <a:schemeClr val="dk1">
                    <a:alpha val="40000"/>
                  </a:schemeClr>
                </a:outerShdw>
              </a:effectLst>
            </a:endParaRPr>
          </a:p>
          <a:p>
            <a:pPr marL="0" indent="0">
              <a:buNone/>
            </a:pPr>
            <a:r>
              <a:rPr lang="zh-CN" altLang="en-US" sz="2000">
                <a:ln/>
                <a:solidFill>
                  <a:schemeClr val="tx1"/>
                </a:solidFill>
                <a:effectLst>
                  <a:outerShdw blurRad="38100" dist="19050" dir="2700000" algn="tl" rotWithShape="0">
                    <a:schemeClr val="dk1">
                      <a:alpha val="40000"/>
                    </a:schemeClr>
                  </a:outerShdw>
                </a:effectLst>
              </a:rPr>
              <a:t>三十年战争的爆发，</a:t>
            </a:r>
            <a:r>
              <a:rPr lang="zh-CN" altLang="en-US">
                <a:ln/>
                <a:solidFill>
                  <a:schemeClr val="tx1"/>
                </a:solidFill>
                <a:effectLst>
                  <a:outerShdw blurRad="38100" dist="19050" dir="2700000" algn="tl" rotWithShape="0">
                    <a:schemeClr val="dk1">
                      <a:alpha val="40000"/>
                    </a:schemeClr>
                  </a:outerShdw>
                </a:effectLst>
              </a:rPr>
              <a:t>一定程度上推动了宗教改革的进程。新教的出现和发展，打破了天主教的宗教垄断，促进了宗教的多元化。同时，新教的理念和教义也对社会、文化、艺术等方面产生了深远影响。</a:t>
            </a:r>
            <a:endParaRPr lang="zh-CN" altLang="en-US">
              <a:ln/>
              <a:solidFill>
                <a:schemeClr val="tx1"/>
              </a:solidFill>
              <a:effectLst>
                <a:outerShdw blurRad="38100" dist="19050" dir="2700000" algn="tl" rotWithShape="0">
                  <a:schemeClr val="dk1">
                    <a:alpha val="40000"/>
                  </a:schemeClr>
                </a:outerShdw>
              </a:effectLst>
            </a:endParaRPr>
          </a:p>
          <a:p>
            <a:r>
              <a:rPr lang="zh-CN" altLang="en-US" sz="4000">
                <a:ln/>
                <a:solidFill>
                  <a:schemeClr val="tx1"/>
                </a:solidFill>
                <a:effectLst>
                  <a:outerShdw blurRad="38100" dist="19050" dir="2700000" algn="tl" rotWithShape="0">
                    <a:schemeClr val="dk1">
                      <a:alpha val="40000"/>
                    </a:schemeClr>
                  </a:outerShdw>
                </a:effectLst>
              </a:rPr>
              <a:t>宗教战争的警示：</a:t>
            </a:r>
            <a:endParaRPr lang="zh-CN" altLang="en-US" sz="4000">
              <a:ln/>
              <a:solidFill>
                <a:schemeClr val="tx1"/>
              </a:solidFill>
              <a:effectLst>
                <a:outerShdw blurRad="38100" dist="19050" dir="2700000" algn="tl" rotWithShape="0">
                  <a:schemeClr val="dk1">
                    <a:alpha val="40000"/>
                  </a:schemeClr>
                </a:outerShdw>
              </a:effectLst>
            </a:endParaRPr>
          </a:p>
          <a:p>
            <a:pPr marL="0" indent="0">
              <a:buNone/>
            </a:pPr>
            <a:r>
              <a:rPr lang="zh-CN" altLang="en-US">
                <a:ln/>
                <a:solidFill>
                  <a:schemeClr val="tx1"/>
                </a:solidFill>
                <a:effectLst>
                  <a:outerShdw blurRad="38100" dist="19050" dir="2700000" algn="tl" rotWithShape="0">
                    <a:schemeClr val="dk1">
                      <a:alpha val="40000"/>
                    </a:schemeClr>
                  </a:outerShdw>
                </a:effectLst>
              </a:rPr>
              <a:t>三十年战争的惨烈，使人们认识到宗教战争的恶果，开始寻求和平解决宗教冲突的途径。这对后来的宗教和平和包容产生了积极影响。</a:t>
            </a:r>
            <a:endParaRPr lang="zh-CN" altLang="en-US">
              <a:ln/>
              <a:solidFill>
                <a:schemeClr val="tx1"/>
              </a:solidFill>
              <a:effectLst>
                <a:outerShdw blurRad="38100" dist="19050" dir="2700000" algn="tl" rotWithShape="0">
                  <a:schemeClr val="dk1">
                    <a:alpha val="40000"/>
                  </a:schemeClr>
                </a:outerShdw>
              </a:effectLst>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lum bright="-24000" contrast="-42000"/>
          </a:blip>
          <a:stretch>
            <a:fillRect/>
          </a:stretch>
        </p:blipFill>
        <p:spPr>
          <a:xfrm>
            <a:off x="-3175" y="-44450"/>
            <a:ext cx="12191365" cy="6901815"/>
          </a:xfrm>
          <a:prstGeom prst="rect">
            <a:avLst/>
          </a:prstGeom>
        </p:spPr>
      </p:pic>
      <p:sp>
        <p:nvSpPr>
          <p:cNvPr id="2" name="标题 1"/>
          <p:cNvSpPr>
            <a:spLocks noGrp="1"/>
          </p:cNvSpPr>
          <p:nvPr>
            <p:ph type="title"/>
          </p:nvPr>
        </p:nvSpPr>
        <p:spPr/>
        <p:txBody>
          <a:bodyPr/>
          <a:p>
            <a:r>
              <a:rPr lang="zh-CN" altLang="en-US">
                <a:solidFill>
                  <a:schemeClr val="bg1"/>
                </a:solidFill>
              </a:rPr>
              <a:t>战争的一般影响</a:t>
            </a:r>
            <a:endParaRPr lang="zh-CN" altLang="en-US">
              <a:solidFill>
                <a:schemeClr val="bg1"/>
              </a:solidFill>
            </a:endParaRPr>
          </a:p>
        </p:txBody>
      </p:sp>
      <p:sp>
        <p:nvSpPr>
          <p:cNvPr id="3" name="内容占位符 2"/>
          <p:cNvSpPr>
            <a:spLocks noGrp="1"/>
          </p:cNvSpPr>
          <p:nvPr>
            <p:ph idx="1"/>
          </p:nvPr>
        </p:nvSpPr>
        <p:spPr/>
        <p:txBody>
          <a:bodyPr>
            <a:normAutofit fontScale="50000"/>
          </a:bodyPr>
          <a:p>
            <a:pPr marL="0" indent="0">
              <a:buNone/>
            </a:pPr>
            <a:r>
              <a:rPr lang="zh-CN" altLang="en-US" sz="4570">
                <a:solidFill>
                  <a:schemeClr val="bg1"/>
                </a:solidFill>
                <a:effectLst>
                  <a:glow rad="1003300">
                    <a:schemeClr val="tx1">
                      <a:alpha val="24000"/>
                    </a:schemeClr>
                  </a:glow>
                </a:effectLst>
                <a:latin typeface="微软雅黑" panose="020B0503020204020204" charset="-122"/>
                <a:ea typeface="微软雅黑" panose="020B0503020204020204" charset="-122"/>
              </a:rPr>
              <a:t>人口流失</a:t>
            </a:r>
            <a:endParaRPr lang="zh-CN" altLang="en-US" sz="4570">
              <a:solidFill>
                <a:schemeClr val="bg1"/>
              </a:solidFill>
              <a:effectLst>
                <a:glow rad="1003300">
                  <a:schemeClr val="tx1">
                    <a:alpha val="24000"/>
                  </a:schemeClr>
                </a:glow>
              </a:effectLst>
              <a:latin typeface="微软雅黑" panose="020B0503020204020204" charset="-122"/>
              <a:ea typeface="微软雅黑" panose="020B0503020204020204" charset="-122"/>
            </a:endParaRPr>
          </a:p>
          <a:p>
            <a:pPr marL="0" indent="0">
              <a:buNone/>
            </a:pPr>
            <a:r>
              <a:rPr lang="en-US" altLang="zh-CN">
                <a:solidFill>
                  <a:schemeClr val="bg1"/>
                </a:solidFill>
                <a:effectLst>
                  <a:glow rad="1003300">
                    <a:schemeClr val="tx1">
                      <a:alpha val="24000"/>
                    </a:schemeClr>
                  </a:glow>
                </a:effectLst>
                <a:latin typeface="微软雅黑" panose="020B0503020204020204" charset="-122"/>
                <a:ea typeface="微软雅黑" panose="020B0503020204020204" charset="-122"/>
              </a:rPr>
              <a:t> </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战争会导致</a:t>
            </a:r>
            <a:r>
              <a:rPr lang="zh-CN" altLang="en-US" sz="2665">
                <a:solidFill>
                  <a:schemeClr val="bg1"/>
                </a:solidFill>
                <a:effectLst>
                  <a:glow rad="1003300">
                    <a:schemeClr val="tx1">
                      <a:alpha val="24000"/>
                    </a:schemeClr>
                  </a:glow>
                </a:effectLst>
                <a:latin typeface="方正舒体" panose="02010601030101010101" charset="-122"/>
                <a:ea typeface="方正舒体" panose="02010601030101010101" charset="-122"/>
              </a:rPr>
              <a:t>人口比例失调</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短时间内国家无法统计出人口存活数量，尤其是人口密集的地区，还会带来家园毁灭，有的家中只剩一人，给活着的人带来的心灵创伤是无法用语言来形容的，那种心情比亲人突然间的离世更可怕，从而也因亲人离世各方面的沮丧对自己的胃口以及心情造成</a:t>
            </a:r>
            <a:r>
              <a:rPr lang="zh-CN" altLang="en-US" sz="3000">
                <a:solidFill>
                  <a:schemeClr val="bg1"/>
                </a:solidFill>
                <a:effectLst>
                  <a:glow rad="1003300">
                    <a:schemeClr val="tx1">
                      <a:alpha val="24000"/>
                    </a:schemeClr>
                  </a:glow>
                </a:effectLst>
                <a:latin typeface="方正舒体" panose="02010601030101010101" charset="-122"/>
                <a:ea typeface="方正舒体" panose="02010601030101010101" charset="-122"/>
              </a:rPr>
              <a:t>巨大创伤</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，也有可能导致精神疾病的发生伤害自己的同胞。</a:t>
            </a:r>
            <a:endPar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endParaRPr>
          </a:p>
          <a:p>
            <a:pPr marL="0" indent="0">
              <a:buNone/>
            </a:pPr>
            <a:r>
              <a:rPr lang="zh-CN" altLang="en-US" sz="4000">
                <a:solidFill>
                  <a:schemeClr val="bg1"/>
                </a:solidFill>
                <a:effectLst>
                  <a:glow rad="1003300">
                    <a:schemeClr val="tx1">
                      <a:alpha val="24000"/>
                    </a:schemeClr>
                  </a:glow>
                </a:effectLst>
                <a:latin typeface="方正舒体" panose="02010601030101010101" charset="-122"/>
                <a:ea typeface="方正舒体" panose="02010601030101010101" charset="-122"/>
              </a:rPr>
              <a:t>经济萧条</a:t>
            </a:r>
            <a:endParaRPr lang="zh-CN" altLang="en-US" sz="4000">
              <a:solidFill>
                <a:schemeClr val="bg1"/>
              </a:solidFill>
              <a:effectLst>
                <a:glow rad="1003300">
                  <a:schemeClr val="tx1">
                    <a:alpha val="24000"/>
                  </a:schemeClr>
                </a:glow>
              </a:effectLst>
              <a:latin typeface="方正舒体" panose="02010601030101010101" charset="-122"/>
              <a:ea typeface="方正舒体" panose="02010601030101010101" charset="-122"/>
            </a:endParaRPr>
          </a:p>
          <a:p>
            <a:pPr marL="0" indent="0">
              <a:buNone/>
            </a:pP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战争会导致除了军工之外的</a:t>
            </a:r>
            <a:r>
              <a:rPr lang="zh-CN" altLang="en-US" sz="3000">
                <a:solidFill>
                  <a:schemeClr val="bg1"/>
                </a:solidFill>
                <a:effectLst>
                  <a:glow rad="1003300">
                    <a:schemeClr val="tx1">
                      <a:alpha val="24000"/>
                    </a:schemeClr>
                  </a:glow>
                </a:effectLst>
                <a:latin typeface="方正舒体" panose="02010601030101010101" charset="-122"/>
                <a:ea typeface="方正舒体" panose="02010601030101010101" charset="-122"/>
              </a:rPr>
              <a:t>工农业生产衰退，物资紧缺</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，尤其是生活必需品，国家限量供应，商家囤积居奇，</a:t>
            </a:r>
            <a:r>
              <a:rPr lang="zh-CN" altLang="en-US" sz="3000">
                <a:solidFill>
                  <a:schemeClr val="bg1"/>
                </a:solidFill>
                <a:effectLst>
                  <a:glow rad="1003300">
                    <a:schemeClr val="tx1">
                      <a:alpha val="24000"/>
                    </a:schemeClr>
                  </a:glow>
                </a:effectLst>
                <a:latin typeface="方正舒体" panose="02010601030101010101" charset="-122"/>
                <a:ea typeface="方正舒体" panose="02010601030101010101" charset="-122"/>
              </a:rPr>
              <a:t>物价上涨</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尤其是汽油钱，那么下面百姓只能靠双脚避难，大部分人买不起汽油，自行车、电车等交通工具由于地面死亡人数的尸体遮挡，是对通行极不便利的，还有可能被当成战争的活靶子扫射。还有类似的吃的喝的用的吃穿住行都会价格上涨，房价暴涨，人民晚上无法过夜，房子里面大部分挤满了富人家，普通人家只能外面避难，大部分物价上涨会根据战争行情来增加价格，也有大部分人发国难财猛增价格的，趁着混乱无人管制，所以是相当残酷的。</a:t>
            </a:r>
            <a:endPar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endParaRPr>
          </a:p>
          <a:p>
            <a:pPr marL="0" indent="0">
              <a:buNone/>
            </a:pPr>
            <a:r>
              <a:rPr lang="zh-CN" altLang="en-US" sz="4000">
                <a:solidFill>
                  <a:schemeClr val="bg1"/>
                </a:solidFill>
                <a:effectLst>
                  <a:glow rad="1003300">
                    <a:schemeClr val="tx1">
                      <a:alpha val="24000"/>
                    </a:schemeClr>
                  </a:glow>
                </a:effectLst>
                <a:latin typeface="方正舒体" panose="02010601030101010101" charset="-122"/>
                <a:ea typeface="方正舒体" panose="02010601030101010101" charset="-122"/>
              </a:rPr>
              <a:t>环境破坏</a:t>
            </a:r>
            <a:endParaRPr lang="zh-CN" altLang="en-US" sz="4000">
              <a:solidFill>
                <a:schemeClr val="bg1"/>
              </a:solidFill>
              <a:effectLst>
                <a:glow rad="1003300">
                  <a:schemeClr val="tx1">
                    <a:alpha val="24000"/>
                  </a:schemeClr>
                </a:glow>
              </a:effectLst>
              <a:latin typeface="方正舒体" panose="02010601030101010101" charset="-122"/>
              <a:ea typeface="方正舒体" panose="02010601030101010101" charset="-122"/>
            </a:endParaRPr>
          </a:p>
          <a:p>
            <a:pPr marL="0" indent="0">
              <a:buNone/>
            </a:pP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战争会对环境造成极大的破坏，如核战争会导致</a:t>
            </a:r>
            <a:r>
              <a:rPr lang="zh-CN" altLang="en-US" sz="3000">
                <a:solidFill>
                  <a:schemeClr val="bg1"/>
                </a:solidFill>
                <a:effectLst>
                  <a:glow rad="1003300">
                    <a:schemeClr val="tx1">
                      <a:alpha val="24000"/>
                    </a:schemeClr>
                  </a:glow>
                </a:effectLst>
                <a:latin typeface="方正舒体" panose="02010601030101010101" charset="-122"/>
                <a:ea typeface="方正舒体" panose="02010601030101010101" charset="-122"/>
              </a:rPr>
              <a:t>放射性物质的泄漏</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，对人类和生态环境造成</a:t>
            </a:r>
            <a:r>
              <a:rPr lang="zh-CN" altLang="en-US" sz="3000">
                <a:solidFill>
                  <a:schemeClr val="bg1"/>
                </a:solidFill>
                <a:effectLst>
                  <a:glow rad="1003300">
                    <a:schemeClr val="tx1">
                      <a:alpha val="24000"/>
                    </a:schemeClr>
                  </a:glow>
                </a:effectLst>
                <a:latin typeface="方正舒体" panose="02010601030101010101" charset="-122"/>
                <a:ea typeface="方正舒体" panose="02010601030101010101" charset="-122"/>
              </a:rPr>
              <a:t>长期的危害</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。战争还会导致水源、土地、空气等资源的污染和破坏，对</a:t>
            </a:r>
            <a:r>
              <a:rPr lang="zh-CN" altLang="en-US" sz="3600">
                <a:solidFill>
                  <a:schemeClr val="bg1"/>
                </a:solidFill>
                <a:effectLst>
                  <a:glow rad="1003300">
                    <a:schemeClr val="tx1">
                      <a:alpha val="24000"/>
                    </a:schemeClr>
                  </a:glow>
                </a:effectLst>
                <a:latin typeface="方正舒体" panose="02010601030101010101" charset="-122"/>
                <a:ea typeface="方正舒体" panose="02010601030101010101" charset="-122"/>
              </a:rPr>
              <a:t>生态环境造成不可逆转的影响</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a:t>
            </a:r>
            <a:endPar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0" name="图片 99"/>
          <p:cNvPicPr/>
          <p:nvPr>
            <p:custDataLst>
              <p:tags r:id="rId1"/>
            </p:custDataLst>
          </p:nvPr>
        </p:nvPicPr>
        <p:blipFill>
          <a:blip r:embed="rId2">
            <a:lum bright="64000" contrast="-76000"/>
          </a:blip>
          <a:stretch>
            <a:fillRect/>
          </a:stretch>
        </p:blipFill>
        <p:spPr>
          <a:xfrm>
            <a:off x="927100" y="663575"/>
            <a:ext cx="4419600" cy="5688330"/>
          </a:xfrm>
          <a:prstGeom prst="rect">
            <a:avLst/>
          </a:prstGeom>
          <a:noFill/>
          <a:ln w="9525">
            <a:noFill/>
          </a:ln>
        </p:spPr>
      </p:pic>
      <p:sp>
        <p:nvSpPr>
          <p:cNvPr id="2" name="标题 1"/>
          <p:cNvSpPr>
            <a:spLocks noGrp="1"/>
          </p:cNvSpPr>
          <p:nvPr>
            <p:ph type="title"/>
          </p:nvPr>
        </p:nvSpPr>
        <p:spPr/>
        <p:txBody>
          <a:bodyPr/>
          <a:p>
            <a:r>
              <a:rPr lang="zh-CN" altLang="en-US"/>
              <a:t>《威斯特伐利亚和约》</a:t>
            </a:r>
            <a:r>
              <a:rPr lang="en-US" altLang="zh-CN"/>
              <a:t>      </a:t>
            </a:r>
            <a:r>
              <a:rPr lang="zh-CN" altLang="en-US"/>
              <a:t>的签订</a:t>
            </a:r>
            <a:endParaRPr lang="zh-CN" altLang="en-US"/>
          </a:p>
        </p:txBody>
      </p:sp>
      <p:sp>
        <p:nvSpPr>
          <p:cNvPr id="3" name="内容占位符 2"/>
          <p:cNvSpPr>
            <a:spLocks noGrp="1"/>
          </p:cNvSpPr>
          <p:nvPr>
            <p:ph idx="1"/>
          </p:nvPr>
        </p:nvSpPr>
        <p:spPr>
          <a:xfrm>
            <a:off x="996315" y="1490345"/>
            <a:ext cx="4419600" cy="4759325"/>
          </a:xfrm>
        </p:spPr>
        <p:txBody>
          <a:bodyPr/>
          <a:p>
            <a:r>
              <a:rPr lang="zh-CN" altLang="en-US">
                <a:effectLst>
                  <a:glow rad="228600">
                    <a:schemeClr val="bg1">
                      <a:alpha val="40000"/>
                    </a:schemeClr>
                  </a:glow>
                </a:effectLst>
              </a:rPr>
              <a:t>威斯特伐利亚</a:t>
            </a:r>
            <a:endParaRPr lang="zh-CN" altLang="en-US">
              <a:effectLst>
                <a:glow rad="228600">
                  <a:schemeClr val="bg1">
                    <a:alpha val="40000"/>
                  </a:schemeClr>
                </a:glow>
              </a:effectLst>
            </a:endParaRPr>
          </a:p>
          <a:p>
            <a:r>
              <a:rPr lang="zh-CN" altLang="en-US">
                <a:effectLst>
                  <a:glow rad="228600">
                    <a:schemeClr val="bg1">
                      <a:alpha val="40000"/>
                    </a:schemeClr>
                  </a:glow>
                </a:effectLst>
              </a:rPr>
              <a:t>内部政治界限</a:t>
            </a:r>
            <a:r>
              <a:rPr lang="zh-CN" altLang="en-US" sz="1200">
                <a:effectLst>
                  <a:glow rad="228600">
                    <a:schemeClr val="bg1">
                      <a:alpha val="40000"/>
                    </a:schemeClr>
                  </a:glow>
                </a:effectLst>
              </a:rPr>
              <a:t>：各个主权国家共存，新的政治系统形成。</a:t>
            </a:r>
            <a:endParaRPr lang="zh-CN" altLang="en-US" sz="1200">
              <a:effectLst>
                <a:glow rad="228600">
                  <a:schemeClr val="bg1">
                    <a:alpha val="40000"/>
                  </a:schemeClr>
                </a:glow>
              </a:effectLst>
            </a:endParaRPr>
          </a:p>
          <a:p>
            <a:r>
              <a:rPr lang="zh-CN" altLang="en-US">
                <a:effectLst>
                  <a:glow rad="228600">
                    <a:schemeClr val="bg1">
                      <a:alpha val="40000"/>
                    </a:schemeClr>
                  </a:glow>
                </a:effectLst>
              </a:rPr>
              <a:t>领土调整</a:t>
            </a:r>
            <a:r>
              <a:rPr lang="zh-CN" altLang="en-US" sz="1600">
                <a:effectLst>
                  <a:glow rad="228600">
                    <a:schemeClr val="bg1">
                      <a:alpha val="40000"/>
                    </a:schemeClr>
                  </a:glow>
                </a:effectLst>
              </a:rPr>
              <a:t>：</a:t>
            </a:r>
            <a:r>
              <a:rPr lang="zh-CN" altLang="en-US" sz="1200">
                <a:effectLst>
                  <a:glow rad="228600">
                    <a:schemeClr val="bg1">
                      <a:alpha val="40000"/>
                    </a:schemeClr>
                  </a:glow>
                </a:effectLst>
              </a:rPr>
              <a:t>条约结束了欧洲历史上有近八百万人丧生的动荡时期，各国承认彼此的独立和领土完整。</a:t>
            </a:r>
            <a:endParaRPr lang="zh-CN" altLang="en-US" sz="1200">
              <a:effectLst>
                <a:glow rad="228600">
                  <a:schemeClr val="bg1">
                    <a:alpha val="40000"/>
                  </a:schemeClr>
                </a:glow>
              </a:effectLst>
            </a:endParaRPr>
          </a:p>
          <a:p>
            <a:r>
              <a:rPr lang="zh-CN" altLang="en-US">
                <a:effectLst>
                  <a:glow rad="228600">
                    <a:schemeClr val="bg1">
                      <a:alpha val="40000"/>
                    </a:schemeClr>
                  </a:glow>
                </a:effectLst>
              </a:rPr>
              <a:t>内部宗教界限</a:t>
            </a:r>
            <a:r>
              <a:rPr lang="zh-CN" altLang="en-US" sz="1200">
                <a:effectLst>
                  <a:glow rad="228600">
                    <a:schemeClr val="bg1">
                      <a:alpha val="40000"/>
                    </a:schemeClr>
                  </a:glow>
                </a:effectLst>
              </a:rPr>
              <a:t>：各諸侯國可自行訂定官方宗教，</a:t>
            </a:r>
            <a:endParaRPr lang="zh-CN" altLang="en-US" sz="1200">
              <a:effectLst>
                <a:glow rad="228600">
                  <a:schemeClr val="bg1">
                    <a:alpha val="40000"/>
                  </a:schemeClr>
                </a:glow>
              </a:effectLst>
            </a:endParaRPr>
          </a:p>
          <a:p>
            <a:r>
              <a:rPr lang="zh-CN" altLang="en-US">
                <a:effectLst>
                  <a:glow rad="228600">
                    <a:schemeClr val="bg1">
                      <a:alpha val="40000"/>
                    </a:schemeClr>
                  </a:glow>
                </a:effectLst>
              </a:rPr>
              <a:t>外交关系</a:t>
            </a:r>
            <a:r>
              <a:rPr lang="zh-CN" altLang="en-US" sz="1200">
                <a:effectLst>
                  <a:glow rad="228600">
                    <a:schemeClr val="bg1">
                      <a:alpha val="40000"/>
                    </a:schemeClr>
                  </a:glow>
                </a:effectLst>
              </a:rPr>
              <a:t>：各个主权国家共存，新的政治系统在欧洲中部形成。</a:t>
            </a:r>
            <a:endParaRPr lang="zh-CN" altLang="en-US" sz="1200">
              <a:effectLst>
                <a:glow rad="228600">
                  <a:schemeClr val="bg1">
                    <a:alpha val="40000"/>
                  </a:schemeClr>
                </a:glow>
              </a:effectLst>
            </a:endParaRPr>
          </a:p>
          <a:p>
            <a:r>
              <a:rPr lang="zh-CN" altLang="en-US">
                <a:effectLst>
                  <a:glow rad="228600">
                    <a:schemeClr val="bg1">
                      <a:alpha val="40000"/>
                    </a:schemeClr>
                  </a:glow>
                </a:effectLst>
              </a:rPr>
              <a:t>权力平衡</a:t>
            </a:r>
            <a:r>
              <a:rPr lang="zh-CN" altLang="en-US" sz="1200">
                <a:effectLst>
                  <a:glow rad="228600">
                    <a:schemeClr val="bg1">
                      <a:alpha val="40000"/>
                    </a:schemeClr>
                  </a:glow>
                </a:effectLst>
              </a:rPr>
              <a:t>：国家间的侵略战争得到遏制，反对干预别国内政的准则开始得到认可</a:t>
            </a:r>
            <a:r>
              <a:rPr lang="zh-CN" altLang="en-US">
                <a:effectLst>
                  <a:glow rad="228600">
                    <a:schemeClr val="bg1">
                      <a:alpha val="40000"/>
                    </a:schemeClr>
                  </a:glow>
                </a:effectLst>
              </a:rPr>
              <a:t>。</a:t>
            </a:r>
            <a:endParaRPr lang="zh-CN" altLang="en-US">
              <a:effectLst>
                <a:glow rad="228600">
                  <a:schemeClr val="bg1">
                    <a:alpha val="40000"/>
                  </a:schemeClr>
                </a:glow>
              </a:effectLst>
            </a:endParaRPr>
          </a:p>
        </p:txBody>
      </p:sp>
      <p:sp>
        <p:nvSpPr>
          <p:cNvPr id="4" name="文本框 3"/>
          <p:cNvSpPr txBox="1"/>
          <p:nvPr/>
        </p:nvSpPr>
        <p:spPr>
          <a:xfrm>
            <a:off x="2976245" y="1599565"/>
            <a:ext cx="2370455" cy="275590"/>
          </a:xfrm>
          <a:prstGeom prst="rect">
            <a:avLst/>
          </a:prstGeom>
          <a:noFill/>
        </p:spPr>
        <p:txBody>
          <a:bodyPr wrap="square" rtlCol="0">
            <a:spAutoFit/>
          </a:bodyPr>
          <a:p>
            <a:r>
              <a:rPr lang="zh-CN" altLang="en-US" sz="1200"/>
              <a:t>德意志西北部的历史地区</a:t>
            </a:r>
            <a:endParaRPr lang="zh-CN" altLang="en-US" sz="1200"/>
          </a:p>
        </p:txBody>
      </p:sp>
      <p:sp>
        <p:nvSpPr>
          <p:cNvPr id="5" name="文本框 4"/>
          <p:cNvSpPr txBox="1"/>
          <p:nvPr/>
        </p:nvSpPr>
        <p:spPr>
          <a:xfrm>
            <a:off x="5415915" y="1238885"/>
            <a:ext cx="6496685" cy="5262245"/>
          </a:xfrm>
          <a:prstGeom prst="rect">
            <a:avLst/>
          </a:prstGeom>
          <a:noFill/>
        </p:spPr>
        <p:txBody>
          <a:bodyPr wrap="square" rtlCol="0">
            <a:spAutoFit/>
          </a:bodyPr>
          <a:p>
            <a:r>
              <a:rPr lang="zh-CN" altLang="en-US" sz="2400">
                <a:latin typeface="方正舒体" panose="02010601030101010101" charset="-122"/>
                <a:ea typeface="方正舒体" panose="02010601030101010101" charset="-122"/>
              </a:rPr>
              <a:t>一系列条约的总称</a:t>
            </a:r>
            <a:r>
              <a:rPr lang="zh-CN" altLang="en-US" sz="1400"/>
              <a:t>，于1648年10月24日在德国奥斯纳布吕克市和明斯特市签订</a:t>
            </a:r>
            <a:endParaRPr lang="zh-CN" altLang="en-US" sz="1400"/>
          </a:p>
          <a:p>
            <a:r>
              <a:rPr lang="zh-CN" altLang="en-US" sz="2400">
                <a:latin typeface="方正舒体" panose="02010601030101010101" charset="-122"/>
                <a:ea typeface="方正舒体" panose="02010601030101010101" charset="-122"/>
              </a:rPr>
              <a:t>一系列宗教战争的结束</a:t>
            </a:r>
            <a:r>
              <a:rPr lang="zh-CN" altLang="en-US" sz="1400"/>
              <a:t>，结束了欧洲历史上有近八百万人丧生的动荡时期</a:t>
            </a:r>
            <a:endParaRPr lang="zh-CN" altLang="en-US" sz="1400"/>
          </a:p>
          <a:p>
            <a:r>
              <a:rPr lang="zh-CN" altLang="en-US" sz="2400">
                <a:latin typeface="方正舒体" panose="02010601030101010101" charset="-122"/>
                <a:ea typeface="方正舒体" panose="02010601030101010101" charset="-122"/>
              </a:rPr>
              <a:t>现代国际系统的开始</a:t>
            </a:r>
            <a:endParaRPr lang="zh-CN" altLang="en-US" sz="2400">
              <a:latin typeface="方正舒体" panose="02010601030101010101" charset="-122"/>
              <a:ea typeface="方正舒体" panose="02010601030101010101" charset="-122"/>
            </a:endParaRPr>
          </a:p>
          <a:p>
            <a:r>
              <a:rPr lang="zh-CN" altLang="en-US" sz="2400">
                <a:latin typeface="方正舒体" panose="02010601030101010101" charset="-122"/>
                <a:ea typeface="方正舒体" panose="02010601030101010101" charset="-122"/>
                <a:cs typeface="方正舒体" panose="02010601030101010101" charset="-122"/>
              </a:rPr>
              <a:t>共计110名交战国代表出席谈判</a:t>
            </a:r>
            <a:r>
              <a:rPr lang="zh-CN" altLang="en-US" sz="1400"/>
              <a:t>，但代表们并不每次都同时出席。会议共签署三份条约以终止对应的相互交叠的战争：</a:t>
            </a:r>
            <a:endParaRPr lang="zh-CN" altLang="en-US" sz="1400"/>
          </a:p>
          <a:p>
            <a:r>
              <a:rPr lang="zh-CN" altLang="en-US" sz="2400">
                <a:latin typeface="方正舒体" panose="02010601030101010101" charset="-122"/>
                <a:ea typeface="方正舒体" panose="02010601030101010101" charset="-122"/>
              </a:rPr>
              <a:t>明斯特和约</a:t>
            </a:r>
            <a:r>
              <a:rPr lang="en-US" altLang="zh-CN" sz="2400">
                <a:latin typeface="方正舒体" panose="02010601030101010101" charset="-122"/>
                <a:ea typeface="方正舒体" panose="02010601030101010101" charset="-122"/>
              </a:rPr>
              <a:t>   </a:t>
            </a:r>
            <a:r>
              <a:rPr lang="zh-CN" altLang="en-US" sz="2400">
                <a:latin typeface="方正舒体" panose="02010601030101010101" charset="-122"/>
                <a:ea typeface="方正舒体" panose="02010601030101010101" charset="-122"/>
              </a:rPr>
              <a:t>明斯特协议</a:t>
            </a:r>
            <a:r>
              <a:rPr lang="en-US" altLang="zh-CN" sz="2400">
                <a:latin typeface="方正舒体" panose="02010601030101010101" charset="-122"/>
                <a:ea typeface="方正舒体" panose="02010601030101010101" charset="-122"/>
              </a:rPr>
              <a:t>  </a:t>
            </a:r>
            <a:r>
              <a:rPr lang="zh-CN" altLang="en-US" sz="2400">
                <a:latin typeface="方正舒体" panose="02010601030101010101" charset="-122"/>
                <a:ea typeface="方正舒体" panose="02010601030101010101" charset="-122"/>
              </a:rPr>
              <a:t>奥斯纳布吕克条约</a:t>
            </a:r>
            <a:r>
              <a:rPr lang="zh-CN" altLang="en-US" sz="1400"/>
              <a:t>威斯特伐利亚和约的谈判过程颇为冗长，由于双方都希望在自己的领地内进行谈判进而控制谈判。</a:t>
            </a:r>
            <a:endParaRPr lang="zh-CN" altLang="en-US" sz="1400"/>
          </a:p>
          <a:p>
            <a:r>
              <a:rPr lang="zh-CN" altLang="en-US" sz="1400"/>
              <a:t>威斯特伐利亚和约的签订是以外交会议订立和约的先例。基于各个主权国家共存的概念，新的政治系统在欧洲中部形成。由于权力平衡，国家间的侵略战争得到遏制，反对干预别国内政的准则开始得到认可2。</a:t>
            </a:r>
            <a:endParaRPr lang="zh-CN" altLang="en-US" sz="1400"/>
          </a:p>
          <a:p>
            <a:r>
              <a:rPr lang="zh-CN" altLang="en-US" sz="2400">
                <a:latin typeface="方正舒体" panose="02010601030101010101" charset="-122"/>
                <a:ea typeface="方正舒体" panose="02010601030101010101" charset="-122"/>
              </a:rPr>
              <a:t>威斯特伐利亚和约的签订对国际法的影响是多方面的</a:t>
            </a:r>
            <a:r>
              <a:rPr lang="zh-CN" altLang="en-US" sz="1400"/>
              <a:t>例如和约第123条中规定：“参加协议的所有各方应有义务保卫和保护本和约的每一项条款不受任何人的侵犯”，第124条“同本协议有关的每一方都必须站在受害者的一方，向他提供意见和武力，协助他还击侵害者”。这规定了条约必须遵守，并且对违反者要施以集体处罚，这一点尤其具有非常重要的意义。它使这些规则真正以“法”的形式出现，并以此影响、规范着国际社会。</a:t>
            </a:r>
            <a:endParaRPr lang="zh-CN" altLang="en-US" sz="1400"/>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3" descr="IMG_256"/>
          <p:cNvPicPr>
            <a:picLocks noChangeAspect="1"/>
          </p:cNvPicPr>
          <p:nvPr>
            <p:custDataLst>
              <p:tags r:id="rId1"/>
            </p:custDataLst>
          </p:nvPr>
        </p:nvPicPr>
        <p:blipFill>
          <a:blip r:embed="rId2"/>
          <a:srcRect t="22756" b="22840"/>
          <a:stretch>
            <a:fillRect/>
          </a:stretch>
        </p:blipFill>
        <p:spPr>
          <a:xfrm>
            <a:off x="0" y="635"/>
            <a:ext cx="12192000" cy="6857365"/>
          </a:xfrm>
          <a:prstGeom prst="rect">
            <a:avLst/>
          </a:prstGeom>
          <a:noFill/>
          <a:ln w="9525">
            <a:noFill/>
          </a:ln>
        </p:spPr>
      </p:pic>
      <p:sp>
        <p:nvSpPr>
          <p:cNvPr id="4" name="文本框 3"/>
          <p:cNvSpPr txBox="1"/>
          <p:nvPr/>
        </p:nvSpPr>
        <p:spPr>
          <a:xfrm>
            <a:off x="1222375" y="1119505"/>
            <a:ext cx="6304280" cy="4276725"/>
          </a:xfrm>
          <a:prstGeom prst="rect">
            <a:avLst/>
          </a:prstGeom>
          <a:solidFill>
            <a:schemeClr val="bg1"/>
          </a:solidFill>
          <a:ln>
            <a:noFill/>
          </a:ln>
          <a:effectLst>
            <a:outerShdw blurRad="50800" dist="38100" dir="18900000" sx="110000" sy="110000" algn="bl" rotWithShape="0">
              <a:schemeClr val="bg1">
                <a:alpha val="32000"/>
              </a:schemeClr>
            </a:outerShdw>
          </a:effectLst>
        </p:spPr>
        <p:txBody>
          <a:bodyPr wrap="square" rtlCol="0">
            <a:noAutofit/>
          </a:bodyPr>
          <a:p>
            <a:r>
              <a:rPr lang="zh-CN" altLang="en-US"/>
              <a:t>从</a:t>
            </a:r>
            <a:r>
              <a:rPr lang="zh-CN" altLang="en-US" sz="2400">
                <a:latin typeface="方正舒体" panose="02010601030101010101" charset="-122"/>
                <a:ea typeface="方正舒体" panose="02010601030101010101" charset="-122"/>
              </a:rPr>
              <a:t>三十年战争</a:t>
            </a:r>
            <a:r>
              <a:rPr lang="zh-CN" altLang="en-US"/>
              <a:t>我们可以看出，当各国只关注自身利益，忽视他国合理关切，甚至通过战争来解决争端时，会导致巨大的人类生命和财富的损失。</a:t>
            </a:r>
            <a:endParaRPr lang="zh-CN" altLang="en-US"/>
          </a:p>
          <a:p>
            <a:r>
              <a:rPr lang="zh-CN" altLang="en-US" sz="2400">
                <a:latin typeface="方正舒体" panose="02010601030101010101" charset="-122"/>
                <a:ea typeface="方正舒体" panose="02010601030101010101" charset="-122"/>
              </a:rPr>
              <a:t>构建人类命运共同体</a:t>
            </a:r>
            <a:r>
              <a:rPr lang="zh-CN" altLang="en-US"/>
              <a:t>的理念强调，在追求本国利益时兼顾他国合理关切，在谋求本国发展中促进各国共同发展。这是一种价值观，是中国在把握世界发展潮流、人类命运走向上展现出的深邃智慧。</a:t>
            </a:r>
            <a:endParaRPr lang="zh-CN" altLang="en-US"/>
          </a:p>
          <a:p>
            <a:r>
              <a:rPr lang="zh-CN" altLang="en-US" sz="2400">
                <a:latin typeface="方正舒体" panose="02010601030101010101" charset="-122"/>
                <a:ea typeface="方正舒体" panose="02010601030101010101" charset="-122"/>
              </a:rPr>
              <a:t>中国特色社会主义</a:t>
            </a:r>
            <a:r>
              <a:rPr lang="zh-CN" altLang="en-US"/>
              <a:t>进入新时代，中华民族迎来了历史上最好的发展时期。同时，面对复杂的国内外形势，我们更要团结一致、凝聚力量，确保中国发展的巨轮胜利前进。</a:t>
            </a:r>
            <a:endParaRPr lang="zh-CN" altLang="en-US"/>
          </a:p>
          <a:p>
            <a:r>
              <a:rPr lang="zh-CN" altLang="en-US" sz="2400">
                <a:latin typeface="方正舒体" panose="02010601030101010101" charset="-122"/>
                <a:ea typeface="方正舒体" panose="02010601030101010101" charset="-122"/>
              </a:rPr>
              <a:t>总的来说</a:t>
            </a:r>
            <a:r>
              <a:rPr lang="zh-CN" altLang="en-US"/>
              <a:t>，三十年战争给我们留下的教训是，我们应该通过和平手段解决争端，尊重每个人的宗教自由，维护民族团结，以保障国家的安全和稳定。这些教训在今天仍然具有重要的现实意义。</a:t>
            </a:r>
            <a:endParaRPr lang="zh-CN" altLang="en-US"/>
          </a:p>
        </p:txBody>
      </p:sp>
      <p:sp>
        <p:nvSpPr>
          <p:cNvPr id="3" name="矩形 2"/>
          <p:cNvSpPr/>
          <p:nvPr/>
        </p:nvSpPr>
        <p:spPr>
          <a:xfrm>
            <a:off x="9161145" y="1633220"/>
            <a:ext cx="1097280" cy="2306955"/>
          </a:xfrm>
          <a:prstGeom prst="rect">
            <a:avLst/>
          </a:prstGeom>
          <a:noFill/>
          <a:ln>
            <a:noFill/>
          </a:ln>
        </p:spPr>
        <p:txBody>
          <a:bodyPr wrap="none" rtlCol="0" anchor="t">
            <a:spAutoFit/>
          </a:bodyPr>
          <a:p>
            <a:pPr algn="ctr"/>
            <a:r>
              <a:rPr lang="zh-CN" altLang="en-US" sz="7200" b="1">
                <a:solidFill>
                  <a:schemeClr val="bg2"/>
                </a:solidFill>
                <a:effectLst>
                  <a:innerShdw blurRad="63500" dist="50800" dir="13500000">
                    <a:srgbClr val="000000">
                      <a:alpha val="50000"/>
                    </a:srgbClr>
                  </a:innerShdw>
                </a:effectLst>
              </a:rPr>
              <a:t>结</a:t>
            </a:r>
            <a:endParaRPr lang="zh-CN" altLang="en-US" sz="7200" b="1">
              <a:solidFill>
                <a:schemeClr val="bg2"/>
              </a:solidFill>
              <a:effectLst>
                <a:innerShdw blurRad="63500" dist="50800" dir="13500000">
                  <a:srgbClr val="000000">
                    <a:alpha val="50000"/>
                  </a:srgbClr>
                </a:innerShdw>
              </a:effectLst>
            </a:endParaRPr>
          </a:p>
          <a:p>
            <a:pPr algn="ctr"/>
            <a:r>
              <a:rPr lang="zh-CN" altLang="en-US" sz="7200" b="1">
                <a:solidFill>
                  <a:schemeClr val="bg2"/>
                </a:solidFill>
                <a:effectLst>
                  <a:innerShdw blurRad="63500" dist="50800" dir="13500000">
                    <a:srgbClr val="000000">
                      <a:alpha val="50000"/>
                    </a:srgbClr>
                  </a:innerShdw>
                </a:effectLst>
              </a:rPr>
              <a:t>论</a:t>
            </a:r>
            <a:endParaRPr lang="zh-CN" altLang="en-US" sz="7200" b="1">
              <a:solidFill>
                <a:schemeClr val="bg2"/>
              </a:solidFill>
              <a:effectLst>
                <a:innerShdw blurRad="63500" dist="50800" dir="13500000">
                  <a:srgbClr val="000000">
                    <a:alpha val="50000"/>
                  </a:srgbClr>
                </a:innerShdw>
              </a:effectLst>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35" y="8650605"/>
            <a:ext cx="12192635" cy="22978110"/>
          </a:xfrm>
        </p:spPr>
        <p:txBody>
          <a:bodyPr>
            <a:normAutofit fontScale="60000"/>
          </a:bodyPr>
          <a:p>
            <a:pPr marL="0" indent="0" algn="ctr">
              <a:buNone/>
            </a:pPr>
            <a:endParaRPr lang="zh-CN" altLang="en-US" sz="2400"/>
          </a:p>
          <a:p>
            <a:pPr algn="ctr"/>
            <a:r>
              <a:rPr lang="zh-CN" altLang="en-US" sz="2400"/>
              <a:t>https://baike.baidu.com/item/%E5%AE%97%E6%95%99%E6%94%B9%E9%9D%A9/4988597</a:t>
            </a:r>
            <a:endParaRPr lang="zh-CN" altLang="en-US" sz="2400"/>
          </a:p>
          <a:p>
            <a:pPr algn="ctr"/>
            <a:endParaRPr lang="zh-CN" altLang="en-US" sz="2400"/>
          </a:p>
          <a:p>
            <a:pPr algn="ctr"/>
            <a:r>
              <a:rPr lang="zh-CN" altLang="en-US" sz="2400"/>
              <a:t>https://zh.wikipedia.org/wiki/%E5%AE%97%E6%95%99%E6%94%B9%E9%9D%A9</a:t>
            </a:r>
            <a:endParaRPr lang="zh-CN" altLang="en-US" sz="2400"/>
          </a:p>
          <a:p>
            <a:pPr algn="ctr"/>
            <a:endParaRPr lang="zh-CN" altLang="en-US" sz="2400"/>
          </a:p>
          <a:p>
            <a:pPr algn="ctr"/>
            <a:r>
              <a:rPr lang="zh-CN" altLang="en-US" sz="2400"/>
              <a:t>https://zh.wikipedia.org/wiki/%E4%B8%89%E5%8D%81%E5%B9%B4%E6%88%B0%E7%88%AD</a:t>
            </a:r>
            <a:endParaRPr lang="zh-CN" altLang="en-US" sz="2400"/>
          </a:p>
          <a:p>
            <a:pPr algn="ctr"/>
            <a:endParaRPr lang="zh-CN" altLang="en-US" sz="2400"/>
          </a:p>
          <a:p>
            <a:pPr algn="ctr"/>
            <a:r>
              <a:rPr lang="zh-CN" altLang="en-US" sz="2400"/>
              <a:t>https://theconversation.com/factcheck-qanda-is-30-billion-spent-every-year-on-500-000-indigenous-people-in-australia-64658</a:t>
            </a:r>
            <a:endParaRPr lang="zh-CN" altLang="en-US" sz="2400"/>
          </a:p>
          <a:p>
            <a:pPr algn="ctr"/>
            <a:r>
              <a:rPr lang="zh-CN" altLang="en-US" sz="2400"/>
              <a:t>https://www.zhihu.com/question/438513373</a:t>
            </a:r>
            <a:endParaRPr lang="zh-CN" altLang="en-US" sz="2400"/>
          </a:p>
          <a:p>
            <a:pPr algn="ctr"/>
            <a:r>
              <a:rPr lang="zh-CN" altLang="en-US" sz="2400"/>
              <a:t>https://zhuanlan.zhihu.com/p/504073898</a:t>
            </a:r>
            <a:endParaRPr lang="zh-CN" altLang="en-US" sz="2400"/>
          </a:p>
          <a:p>
            <a:pPr algn="ctr"/>
            <a:endParaRPr lang="zh-CN" altLang="en-US" sz="2400"/>
          </a:p>
          <a:p>
            <a:pPr algn="ctr"/>
            <a:r>
              <a:rPr lang="zh-CN" altLang="en-US" sz="2400"/>
              <a:t>https://www.bilibili.com/video/BV1rt411d7jk/?vd_source=b340e0d76d7bd8f225b6550f30444553</a:t>
            </a:r>
            <a:endParaRPr lang="zh-CN" altLang="en-US" sz="2400"/>
          </a:p>
          <a:p>
            <a:pPr algn="ctr"/>
            <a:endParaRPr lang="zh-CN" altLang="en-US" sz="2400"/>
          </a:p>
          <a:p>
            <a:pPr algn="ctr"/>
            <a:r>
              <a:rPr lang="zh-CN" altLang="en-US" sz="2400"/>
              <a:t>https://baike.baidu.com/item/%E7%99%BD%E5%B1%B1%E6%88%98%E5%BD%B9/5565145</a:t>
            </a:r>
            <a:endParaRPr lang="zh-CN" altLang="en-US" sz="2400"/>
          </a:p>
          <a:p>
            <a:pPr algn="ctr"/>
            <a:r>
              <a:rPr lang="zh-CN" altLang="en-US" sz="2400"/>
              <a:t>https://movie.douban.com/subject/30391372/</a:t>
            </a:r>
            <a:endParaRPr lang="zh-CN" altLang="en-US" sz="2400"/>
          </a:p>
          <a:p>
            <a:pPr algn="ctr"/>
            <a:r>
              <a:rPr lang="zh-CN" altLang="en-US" sz="2400"/>
              <a:t>https://baike.sogou.c</a:t>
            </a:r>
            <a:r>
              <a:rPr lang="en-US" altLang="zh-CN" sz="2400"/>
              <a:t>·</a:t>
            </a:r>
            <a:r>
              <a:rPr lang="zh-CN" altLang="en-US" sz="2400"/>
              <a:t>om/v65415880.htm</a:t>
            </a:r>
            <a:endParaRPr lang="zh-CN" altLang="en-US" sz="2400"/>
          </a:p>
          <a:p>
            <a:pPr algn="ctr"/>
            <a:r>
              <a:rPr lang="zh-CN" altLang="en-US" sz="2400"/>
              <a:t>https://baike.baidu.com/item/%E8%85%93%E7%89%B9%E7%83%88%E4%BA%94%E4%B8%96/67184</a:t>
            </a:r>
            <a:endParaRPr lang="zh-CN" altLang="en-US" sz="2400"/>
          </a:p>
          <a:p>
            <a:pPr algn="ctr"/>
            <a:r>
              <a:rPr lang="zh-CN" altLang="en-US" sz="2400"/>
              <a:t>https://www.youtube.com/watch?v=K56Z12XNQ5c</a:t>
            </a:r>
            <a:endParaRPr lang="zh-CN" altLang="en-US" sz="2400"/>
          </a:p>
          <a:p>
            <a:pPr algn="ctr"/>
            <a:r>
              <a:rPr lang="zh-CN" altLang="en-US" sz="2400"/>
              <a:t>: 维基百科 : Britannica</a:t>
            </a:r>
            <a:endParaRPr lang="zh-CN" altLang="en-US" sz="2400"/>
          </a:p>
          <a:p>
            <a:pPr algn="ctr"/>
            <a:r>
              <a:rPr lang="zh-CN" altLang="en-US" sz="2400"/>
              <a:t>三十年戰爭 - 维基百科，自由的百科全书. https://zh.wikipedia.org/wiki/%E4%B8%89%E5%8D%81%E5%B9%B4%E6%88%B0%E7%88%AD.</a:t>
            </a:r>
            <a:endParaRPr lang="zh-CN" altLang="en-US" sz="2400"/>
          </a:p>
          <a:p>
            <a:pPr algn="ctr"/>
            <a:r>
              <a:rPr lang="zh-CN" altLang="en-US" sz="2400"/>
              <a:t> Thirty Years’ War - HISTORY. https://www.history.com/topics/reformation/thirty-years-war.</a:t>
            </a:r>
            <a:endParaRPr lang="zh-CN" altLang="en-US" sz="2400"/>
          </a:p>
          <a:p>
            <a:pPr algn="ctr"/>
            <a:r>
              <a:rPr lang="zh-CN" altLang="en-US" sz="2400"/>
              <a:t> 三十年战争的发展及其意义 - 知乎 - 知乎专栏. https://zhuanlan.zhihu.com/p/616977069.</a:t>
            </a:r>
            <a:endParaRPr lang="zh-CN" altLang="en-US" sz="2400"/>
          </a:p>
          <a:p>
            <a:pPr algn="ctr"/>
            <a:r>
              <a:rPr lang="zh-CN" altLang="en-US" sz="2400"/>
              <a:t> 三十年战争 - 知乎 - 知乎专栏. https://zhuanlan.zhihu.com/p/165546109.</a:t>
            </a:r>
            <a:endParaRPr lang="zh-CN" altLang="en-US" sz="2400"/>
          </a:p>
          <a:p>
            <a:pPr algn="ctr"/>
            <a:r>
              <a:rPr lang="zh-CN" altLang="en-US" sz="2400"/>
              <a:t> 三十年战争_百度百科. https://baike.baidu.com/item/%E4%B8%89%E5%8D%81%E5%B9%B4%E6%88%98%E4%BA%89/1202742.</a:t>
            </a:r>
            <a:endParaRPr lang="zh-CN" altLang="en-US" sz="2400"/>
          </a:p>
          <a:p>
            <a:pPr algn="ctr"/>
            <a:r>
              <a:rPr lang="zh-CN" altLang="en-US" sz="2400"/>
              <a:t>Shindo Life Wiki | Fandom. https://shindo-life-rell.fandom.com/wiki/Shindo_Life_Wiki.</a:t>
            </a:r>
            <a:endParaRPr lang="zh-CN" altLang="en-US" sz="2400"/>
          </a:p>
          <a:p>
            <a:pPr algn="ctr"/>
            <a:r>
              <a:rPr lang="zh-CN" altLang="en-US" sz="2400"/>
              <a:t>Roblox: All Star Tower Defense Wiki | Fandom. https://allstartd.fandom.com/wiki/Roblox:_All_Star_Tower_Defense_Wiki.</a:t>
            </a:r>
            <a:endParaRPr lang="zh-CN" altLang="en-US" sz="2400"/>
          </a:p>
          <a:p>
            <a:pPr algn="ctr"/>
            <a:r>
              <a:rPr lang="zh-CN" altLang="en-US" sz="2400"/>
              <a:t> Value | Murder Mystery 2 Wiki | Fandom. https://murder-mystery-2.fandom.com/wiki/Value.</a:t>
            </a:r>
            <a:endParaRPr lang="zh-CN" altLang="en-US" sz="2400"/>
          </a:p>
          <a:p>
            <a:pPr algn="ctr"/>
            <a:r>
              <a:rPr lang="zh-CN" altLang="en-US" sz="2400"/>
              <a:t>战争的意义是什么？ - 知乎. https://www.zhihu.com/question/24702836.</a:t>
            </a:r>
            <a:endParaRPr lang="zh-CN" altLang="en-US" sz="2400"/>
          </a:p>
          <a:p>
            <a:pPr algn="ctr"/>
            <a:r>
              <a:rPr lang="zh-CN" altLang="en-US" sz="2400"/>
              <a:t>这个世界上为什么要存在战争？战争的意义是什么？ - 知乎. https://www.zhihu.com/question/62497197.</a:t>
            </a:r>
            <a:endParaRPr lang="zh-CN" altLang="en-US" sz="2400"/>
          </a:p>
          <a:p>
            <a:pPr algn="ctr"/>
            <a:r>
              <a:rPr lang="zh-CN" altLang="en-US" sz="2400"/>
              <a:t>韩国与苏联的唯一一次海战——6·25朝鲜海峡之战 - 知乎. https://zhuanlan.zhihu.com/p/478269737.</a:t>
            </a:r>
            <a:endParaRPr lang="zh-CN" altLang="en-US" sz="2400"/>
          </a:p>
          <a:p>
            <a:pPr algn="ctr"/>
            <a:r>
              <a:rPr lang="zh-CN" altLang="en-US" sz="2400"/>
              <a:t>(朝韩625战争，究竟是谁开的第一枪，这很重要么？ - 知乎. https://zhuanlan.zhihu.com/p/383766586.</a:t>
            </a:r>
            <a:endParaRPr lang="zh-CN" altLang="en-US" sz="2400"/>
          </a:p>
          <a:p>
            <a:pPr algn="ctr"/>
            <a:r>
              <a:rPr lang="zh-CN" altLang="en-US" sz="2400"/>
              <a:t> Unveiling the Laws of the Rise and Fall of Civilizations, and Mapping .... https://interpret.csis.org/translations/unveiling-the-laws-of-the-rise-and-fall-of-civilizations-and-mapping-the-path-of-civilizational-development-the-theoretical-implications-and-practical-value-of-the-global-civilization-initiat/.</a:t>
            </a:r>
            <a:endParaRPr lang="zh-CN" altLang="en-US" sz="2400"/>
          </a:p>
          <a:p>
            <a:pPr algn="ctr"/>
            <a:r>
              <a:rPr lang="zh-CN" altLang="en-US" sz="2400"/>
              <a:t>(Genetic study reveals 30% of white British DNA has German ancestry. https://www.theguardian.com/science/2015/mar/18/genetic-study-30-percent-white-british-dna-german-ancestry.</a:t>
            </a:r>
            <a:endParaRPr lang="zh-CN" altLang="en-US" sz="2400"/>
          </a:p>
          <a:p>
            <a:pPr algn="ctr"/>
            <a:r>
              <a:rPr lang="zh-CN" altLang="en-US" sz="2400"/>
              <a:t>30 Woman On Top Sex Positions - Netmums. https://www.netmums.com/life/woman-on-top-sex-positions.</a:t>
            </a:r>
            <a:endParaRPr lang="zh-CN" altLang="en-US" sz="2400"/>
          </a:p>
          <a:p>
            <a:pPr algn="ctr"/>
            <a:r>
              <a:rPr lang="zh-CN" altLang="en-US" sz="2400"/>
              <a:t>30 hours free childcare - GOV.UK. https://www.gov.uk/30-hours-free-childcare.</a:t>
            </a:r>
            <a:endParaRPr lang="zh-CN" altLang="en-US" sz="2400"/>
          </a:p>
          <a:p>
            <a:pPr algn="ctr"/>
            <a:r>
              <a:rPr lang="zh-CN" altLang="en-US" sz="2400"/>
              <a:t>: https://www.bilibili.com/read/cv26713941/ 3</a:t>
            </a:r>
            <a:endParaRPr lang="zh-CN" altLang="en-US" sz="2400"/>
          </a:p>
          <a:p>
            <a:pPr algn="ctr"/>
            <a:r>
              <a:rPr lang="zh-CN" altLang="en-US" sz="2400"/>
              <a:t>1: https://zhuanlan.zhihu.com/p/620469429 2: https://www.bilibili.com/read/cv26713941/ 3: https://zh.wikipedia.org/zh-cn/%E4%B8%89%E5%8D%81%E5%B9%B4%E6%88%B0%E7%88%AD</a:t>
            </a:r>
            <a:endParaRPr lang="zh-CN" altLang="en-US" sz="2400"/>
          </a:p>
          <a:p>
            <a:pPr algn="ctr"/>
            <a:r>
              <a:rPr lang="zh-CN" altLang="en-US" sz="2400"/>
              <a:t>https://www.zhihu.com/question/476773739</a:t>
            </a:r>
            <a:endParaRPr lang="zh-CN" altLang="en-US" sz="2400"/>
          </a:p>
          <a:p>
            <a:pPr algn="ctr"/>
            <a:r>
              <a:rPr lang="zh-CN" altLang="en-US" sz="2400"/>
              <a:t>https://www.zhihu.com/question/326380904</a:t>
            </a:r>
            <a:endParaRPr lang="zh-CN" altLang="en-US" sz="2400"/>
          </a:p>
          <a:p>
            <a:pPr algn="ctr"/>
            <a:r>
              <a:rPr lang="zh-CN" altLang="en-US" sz="2400"/>
              <a:t>https://www.bilibili.com/read/cv2748909/</a:t>
            </a:r>
            <a:endParaRPr lang="zh-CN" altLang="en-US" sz="2400"/>
          </a:p>
          <a:p>
            <a:pPr algn="ctr"/>
            <a:r>
              <a:rPr lang="zh-CN" altLang="en-US" sz="2400"/>
              <a:t>https://zh.wikipedia.org/wiki/%E5%8F%A4%E6%96%AF%E5%A1%94%E5%A4%AB%E4%BA%8C%E4%B8%96%C2%B7%E9%98%BF%E9%81%93%E5%A4%AB</a:t>
            </a:r>
            <a:endParaRPr lang="zh-CN" altLang="en-US" sz="2400"/>
          </a:p>
          <a:p>
            <a:pPr algn="ctr"/>
            <a:r>
              <a:rPr lang="zh-CN" altLang="en-US" sz="2400"/>
              <a:t>https://baijiahao.baidu.com/s?id=1702545799659392317</a:t>
            </a:r>
            <a:endParaRPr lang="zh-CN" altLang="en-US" sz="2400"/>
          </a:p>
          <a:p>
            <a:pPr algn="ctr"/>
            <a:r>
              <a:rPr lang="zh-CN" altLang="en-US" sz="2400"/>
              <a:t>https://zhuanlan.zhihu.com/p/620469429</a:t>
            </a:r>
            <a:endParaRPr lang="zh-CN" altLang="en-US" sz="2400"/>
          </a:p>
          <a:p>
            <a:pPr algn="ctr"/>
            <a:r>
              <a:rPr lang="zh-CN" altLang="en-US" sz="2400"/>
              <a:t>https://baike.baidu.com/item/%E9%BB%8E%E5%A1%9E%E7%95%99/2696691?fromModule=lemma_inlink</a:t>
            </a:r>
            <a:endParaRPr lang="zh-CN" altLang="en-US" sz="2400"/>
          </a:p>
          <a:p>
            <a:pPr algn="ctr"/>
            <a:r>
              <a:rPr lang="zh-CN" altLang="en-US" sz="2400"/>
              <a:t>https://baike.baidu.com/item/%E5%8A%A0%E6%B3%B0%E7%BD%97%E5%B0%BC%E4%BA%9A%E5%A4%A7%E8%B5%B7%E4%B9%89/23118305?fromModule=lemma_inlink</a:t>
            </a: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sz="3000"/>
          </a:p>
        </p:txBody>
      </p:sp>
      <p:sp>
        <p:nvSpPr>
          <p:cNvPr id="7" name="文本框 6"/>
          <p:cNvSpPr txBox="1"/>
          <p:nvPr/>
        </p:nvSpPr>
        <p:spPr>
          <a:xfrm>
            <a:off x="-635" y="30803215"/>
            <a:ext cx="12192635" cy="1476375"/>
          </a:xfrm>
          <a:prstGeom prst="rect">
            <a:avLst/>
          </a:prstGeom>
          <a:noFill/>
        </p:spPr>
        <p:txBody>
          <a:bodyPr wrap="square" rtlCol="0">
            <a:noAutofit/>
          </a:bodyPr>
          <a:p>
            <a:pPr algn="ctr"/>
            <a:endParaRPr lang="zh-CN" altLang="en-US"/>
          </a:p>
          <a:p>
            <a:pPr algn="ctr"/>
            <a:endParaRPr lang="zh-CN" altLang="en-US"/>
          </a:p>
          <a:p>
            <a:pPr algn="ctr"/>
            <a:r>
              <a:rPr lang="zh-CN" altLang="en-US">
                <a:sym typeface="+mn-ea"/>
              </a:rPr>
              <a:t>特别参考书籍</a:t>
            </a:r>
            <a:endParaRPr lang="zh-CN" altLang="en-US"/>
          </a:p>
          <a:p>
            <a:pPr algn="ctr"/>
            <a:r>
              <a:rPr lang="zh-CN" altLang="en-US">
                <a:sym typeface="+mn-ea"/>
              </a:rPr>
              <a:t>《三十年战争史》约翰·克里斯托弗·弗里德里希·冯·席勒</a:t>
            </a:r>
            <a:endParaRPr lang="zh-CN" altLang="en-US"/>
          </a:p>
          <a:p>
            <a:endParaRPr lang="zh-CN" altLang="en-US"/>
          </a:p>
        </p:txBody>
      </p:sp>
      <p:sp>
        <p:nvSpPr>
          <p:cNvPr id="8" name="文本框 7"/>
          <p:cNvSpPr txBox="1"/>
          <p:nvPr/>
        </p:nvSpPr>
        <p:spPr>
          <a:xfrm>
            <a:off x="0" y="1947545"/>
            <a:ext cx="12192000" cy="1660525"/>
          </a:xfrm>
          <a:prstGeom prst="rect">
            <a:avLst/>
          </a:prstGeom>
          <a:noFill/>
        </p:spPr>
        <p:txBody>
          <a:bodyPr wrap="square" rtlCol="0">
            <a:spAutoFit/>
          </a:bodyPr>
          <a:p>
            <a:pPr marL="0" indent="0" algn="ctr">
              <a:buNone/>
            </a:pPr>
            <a:r>
              <a:rPr lang="zh-CN" altLang="en-US" sz="6600">
                <a:sym typeface="+mn-ea"/>
              </a:rPr>
              <a:t>参考书籍及网站</a:t>
            </a:r>
            <a:endParaRPr lang="zh-CN" altLang="en-US" sz="6600"/>
          </a:p>
          <a:p>
            <a:pPr algn="ctr"/>
            <a:endParaRPr lang="zh-CN" altLang="en-US"/>
          </a:p>
          <a:p>
            <a:endParaRPr lang="zh-CN" altLang="en-US"/>
          </a:p>
        </p:txBody>
      </p:sp>
      <p:sp>
        <p:nvSpPr>
          <p:cNvPr id="2" name="文本框 1"/>
          <p:cNvSpPr txBox="1"/>
          <p:nvPr/>
        </p:nvSpPr>
        <p:spPr>
          <a:xfrm>
            <a:off x="-635" y="35484435"/>
            <a:ext cx="12192000" cy="2000885"/>
          </a:xfrm>
          <a:prstGeom prst="rect">
            <a:avLst/>
          </a:prstGeom>
          <a:noFill/>
        </p:spPr>
        <p:txBody>
          <a:bodyPr wrap="square" rtlCol="0">
            <a:noAutofit/>
          </a:bodyPr>
          <a:p>
            <a:pPr algn="ctr"/>
            <a:r>
              <a:rPr lang="zh-CN" altLang="en-US" sz="5400"/>
              <a:t>谢</a:t>
            </a:r>
            <a:r>
              <a:rPr lang="en-US" altLang="zh-CN" sz="5400"/>
              <a:t>  </a:t>
            </a:r>
            <a:r>
              <a:rPr lang="zh-CN" altLang="en-US" sz="5400"/>
              <a:t>谢</a:t>
            </a:r>
            <a:endParaRPr lang="zh-CN" altLang="en-US" sz="54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grpId="2" nodeType="clickEffect">
                                  <p:stCondLst>
                                    <p:cond delay="0"/>
                                  </p:stCondLst>
                                  <p:childTnLst>
                                    <p:animMotion origin="layout" path="M 0 0 L 0.0122396 -4.36269 " pathEditMode="relative" ptsTypes="">
                                      <p:cBhvr>
                                        <p:cTn id="6" dur="15000" fill="hold"/>
                                        <p:tgtEl>
                                          <p:spTgt spid="3">
                                            <p:txEl>
                                              <p:pRg st="1" end="1"/>
                                            </p:txEl>
                                          </p:spTgt>
                                        </p:tgtEl>
                                        <p:attrNameLst>
                                          <p:attrName>ppt_x</p:attrName>
                                          <p:attrName>ppt_y</p:attrName>
                                        </p:attrNameLst>
                                      </p:cBhvr>
                                    </p:animMotion>
                                  </p:childTnLst>
                                </p:cTn>
                              </p:par>
                              <p:par>
                                <p:cTn id="7" presetID="0" presetClass="path" presetSubtype="0" fill="hold" grpId="2" nodeType="withEffect">
                                  <p:stCondLst>
                                    <p:cond delay="0"/>
                                  </p:stCondLst>
                                  <p:childTnLst>
                                    <p:animMotion origin="layout" path="M 0 0 L 0.0122396 -4.36269 " pathEditMode="relative" ptsTypes="">
                                      <p:cBhvr>
                                        <p:cTn id="8" dur="15000" fill="hold"/>
                                        <p:tgtEl>
                                          <p:spTgt spid="3">
                                            <p:txEl>
                                              <p:pRg st="3" end="3"/>
                                            </p:txEl>
                                          </p:spTgt>
                                        </p:tgtEl>
                                        <p:attrNameLst>
                                          <p:attrName>ppt_x</p:attrName>
                                          <p:attrName>ppt_y</p:attrName>
                                        </p:attrNameLst>
                                      </p:cBhvr>
                                    </p:animMotion>
                                  </p:childTnLst>
                                </p:cTn>
                              </p:par>
                              <p:par>
                                <p:cTn id="9" presetID="0" presetClass="path" presetSubtype="0" fill="hold" grpId="2" nodeType="withEffect">
                                  <p:stCondLst>
                                    <p:cond delay="0"/>
                                  </p:stCondLst>
                                  <p:childTnLst>
                                    <p:animMotion origin="layout" path="M 0 0 L 0.0122396 -4.36269 " pathEditMode="relative" ptsTypes="">
                                      <p:cBhvr>
                                        <p:cTn id="10" dur="15000" fill="hold"/>
                                        <p:tgtEl>
                                          <p:spTgt spid="3">
                                            <p:txEl>
                                              <p:pRg st="5" end="5"/>
                                            </p:txEl>
                                          </p:spTgt>
                                        </p:tgtEl>
                                        <p:attrNameLst>
                                          <p:attrName>ppt_x</p:attrName>
                                          <p:attrName>ppt_y</p:attrName>
                                        </p:attrNameLst>
                                      </p:cBhvr>
                                    </p:animMotion>
                                  </p:childTnLst>
                                </p:cTn>
                              </p:par>
                              <p:par>
                                <p:cTn id="11" presetID="0" presetClass="path" presetSubtype="0" fill="hold" grpId="2" nodeType="withEffect">
                                  <p:stCondLst>
                                    <p:cond delay="0"/>
                                  </p:stCondLst>
                                  <p:childTnLst>
                                    <p:animMotion origin="layout" path="M 0 0 L 0.0122396 -4.36269 " pathEditMode="relative" ptsTypes="">
                                      <p:cBhvr>
                                        <p:cTn id="12" dur="15000" fill="hold"/>
                                        <p:tgtEl>
                                          <p:spTgt spid="3">
                                            <p:txEl>
                                              <p:pRg st="7" end="7"/>
                                            </p:txEl>
                                          </p:spTgt>
                                        </p:tgtEl>
                                        <p:attrNameLst>
                                          <p:attrName>ppt_x</p:attrName>
                                          <p:attrName>ppt_y</p:attrName>
                                        </p:attrNameLst>
                                      </p:cBhvr>
                                    </p:animMotion>
                                  </p:childTnLst>
                                </p:cTn>
                              </p:par>
                              <p:par>
                                <p:cTn id="13" presetID="0" presetClass="path" presetSubtype="0" fill="hold" grpId="2" nodeType="withEffect">
                                  <p:stCondLst>
                                    <p:cond delay="0"/>
                                  </p:stCondLst>
                                  <p:childTnLst>
                                    <p:animMotion origin="layout" path="M 0 0 L 0.0122396 -4.36269 " pathEditMode="relative" ptsTypes="">
                                      <p:cBhvr>
                                        <p:cTn id="14" dur="15000" fill="hold"/>
                                        <p:tgtEl>
                                          <p:spTgt spid="3">
                                            <p:txEl>
                                              <p:pRg st="8" end="8"/>
                                            </p:txEl>
                                          </p:spTgt>
                                        </p:tgtEl>
                                        <p:attrNameLst>
                                          <p:attrName>ppt_x</p:attrName>
                                          <p:attrName>ppt_y</p:attrName>
                                        </p:attrNameLst>
                                      </p:cBhvr>
                                    </p:animMotion>
                                  </p:childTnLst>
                                </p:cTn>
                              </p:par>
                              <p:par>
                                <p:cTn id="15" presetID="0" presetClass="path" presetSubtype="0" fill="hold" grpId="2" nodeType="withEffect">
                                  <p:stCondLst>
                                    <p:cond delay="0"/>
                                  </p:stCondLst>
                                  <p:childTnLst>
                                    <p:animMotion origin="layout" path="M 0 0 L 0.0122396 -4.36269 " pathEditMode="relative" ptsTypes="">
                                      <p:cBhvr>
                                        <p:cTn id="16" dur="15000" fill="hold"/>
                                        <p:tgtEl>
                                          <p:spTgt spid="3">
                                            <p:txEl>
                                              <p:pRg st="9" end="9"/>
                                            </p:txEl>
                                          </p:spTgt>
                                        </p:tgtEl>
                                        <p:attrNameLst>
                                          <p:attrName>ppt_x</p:attrName>
                                          <p:attrName>ppt_y</p:attrName>
                                        </p:attrNameLst>
                                      </p:cBhvr>
                                    </p:animMotion>
                                  </p:childTnLst>
                                </p:cTn>
                              </p:par>
                              <p:par>
                                <p:cTn id="17" presetID="0" presetClass="path" presetSubtype="0" fill="hold" grpId="2" nodeType="withEffect">
                                  <p:stCondLst>
                                    <p:cond delay="0"/>
                                  </p:stCondLst>
                                  <p:childTnLst>
                                    <p:animMotion origin="layout" path="M -0.00307292 0.0708333 L 0.00916668 -4.29186 " pathEditMode="relative" rAng="0" ptsTypes="">
                                      <p:cBhvr>
                                        <p:cTn id="18" dur="15000" fill="hold"/>
                                        <p:tgtEl>
                                          <p:spTgt spid="3">
                                            <p:txEl>
                                              <p:pRg st="11" end="11"/>
                                            </p:txEl>
                                          </p:spTgt>
                                        </p:tgtEl>
                                        <p:attrNameLst>
                                          <p:attrName>ppt_x</p:attrName>
                                          <p:attrName>ppt_y</p:attrName>
                                        </p:attrNameLst>
                                      </p:cBhvr>
                                      <p:rCtr x="6" y="-2181"/>
                                    </p:animMotion>
                                  </p:childTnLst>
                                </p:cTn>
                              </p:par>
                              <p:par>
                                <p:cTn id="19" presetID="0" presetClass="path" presetSubtype="0" fill="hold" grpId="2" nodeType="withEffect">
                                  <p:stCondLst>
                                    <p:cond delay="0"/>
                                  </p:stCondLst>
                                  <p:childTnLst>
                                    <p:animMotion origin="layout" path="M 0 0 L 0.0122396 -4.36269 " pathEditMode="relative" ptsTypes="">
                                      <p:cBhvr>
                                        <p:cTn id="20" dur="15000" fill="hold"/>
                                        <p:tgtEl>
                                          <p:spTgt spid="3">
                                            <p:txEl>
                                              <p:pRg st="13" end="13"/>
                                            </p:txEl>
                                          </p:spTgt>
                                        </p:tgtEl>
                                        <p:attrNameLst>
                                          <p:attrName>ppt_x</p:attrName>
                                          <p:attrName>ppt_y</p:attrName>
                                        </p:attrNameLst>
                                      </p:cBhvr>
                                    </p:animMotion>
                                  </p:childTnLst>
                                </p:cTn>
                              </p:par>
                              <p:par>
                                <p:cTn id="21" presetID="0" presetClass="path" presetSubtype="0" fill="hold" grpId="2" nodeType="withEffect">
                                  <p:stCondLst>
                                    <p:cond delay="0"/>
                                  </p:stCondLst>
                                  <p:childTnLst>
                                    <p:animMotion origin="layout" path="M 0 0 L 0.0122396 -4.36269 " pathEditMode="relative" ptsTypes="">
                                      <p:cBhvr>
                                        <p:cTn id="22" dur="15000" fill="hold"/>
                                        <p:tgtEl>
                                          <p:spTgt spid="3">
                                            <p:txEl>
                                              <p:pRg st="14" end="14"/>
                                            </p:txEl>
                                          </p:spTgt>
                                        </p:tgtEl>
                                        <p:attrNameLst>
                                          <p:attrName>ppt_x</p:attrName>
                                          <p:attrName>ppt_y</p:attrName>
                                        </p:attrNameLst>
                                      </p:cBhvr>
                                    </p:animMotion>
                                  </p:childTnLst>
                                </p:cTn>
                              </p:par>
                              <p:par>
                                <p:cTn id="23" presetID="0" presetClass="path" presetSubtype="0" fill="hold" grpId="2" nodeType="withEffect">
                                  <p:stCondLst>
                                    <p:cond delay="0"/>
                                  </p:stCondLst>
                                  <p:childTnLst>
                                    <p:animMotion origin="layout" path="M 0 0 L 0.0122396 -4.36269 " pathEditMode="relative" ptsTypes="">
                                      <p:cBhvr>
                                        <p:cTn id="24" dur="15000" fill="hold"/>
                                        <p:tgtEl>
                                          <p:spTgt spid="3">
                                            <p:txEl>
                                              <p:pRg st="15" end="15"/>
                                            </p:txEl>
                                          </p:spTgt>
                                        </p:tgtEl>
                                        <p:attrNameLst>
                                          <p:attrName>ppt_x</p:attrName>
                                          <p:attrName>ppt_y</p:attrName>
                                        </p:attrNameLst>
                                      </p:cBhvr>
                                    </p:animMotion>
                                  </p:childTnLst>
                                </p:cTn>
                              </p:par>
                              <p:par>
                                <p:cTn id="25" presetID="0" presetClass="path" presetSubtype="0" fill="hold" grpId="2" nodeType="withEffect">
                                  <p:stCondLst>
                                    <p:cond delay="0"/>
                                  </p:stCondLst>
                                  <p:childTnLst>
                                    <p:animMotion origin="layout" path="M 0 0 L 0.0122396 -4.36269 " pathEditMode="relative" ptsTypes="">
                                      <p:cBhvr>
                                        <p:cTn id="26" dur="15000" fill="hold"/>
                                        <p:tgtEl>
                                          <p:spTgt spid="3">
                                            <p:txEl>
                                              <p:pRg st="16" end="16"/>
                                            </p:txEl>
                                          </p:spTgt>
                                        </p:tgtEl>
                                        <p:attrNameLst>
                                          <p:attrName>ppt_x</p:attrName>
                                          <p:attrName>ppt_y</p:attrName>
                                        </p:attrNameLst>
                                      </p:cBhvr>
                                    </p:animMotion>
                                  </p:childTnLst>
                                </p:cTn>
                              </p:par>
                              <p:par>
                                <p:cTn id="27" presetID="0" presetClass="path" presetSubtype="0" fill="hold" grpId="2" nodeType="withEffect">
                                  <p:stCondLst>
                                    <p:cond delay="0"/>
                                  </p:stCondLst>
                                  <p:childTnLst>
                                    <p:animMotion origin="layout" path="M 0 0 L 0.0122396 -4.36269 " pathEditMode="relative" ptsTypes="">
                                      <p:cBhvr>
                                        <p:cTn id="28" dur="15000" fill="hold"/>
                                        <p:tgtEl>
                                          <p:spTgt spid="3">
                                            <p:txEl>
                                              <p:pRg st="17" end="17"/>
                                            </p:txEl>
                                          </p:spTgt>
                                        </p:tgtEl>
                                        <p:attrNameLst>
                                          <p:attrName>ppt_x</p:attrName>
                                          <p:attrName>ppt_y</p:attrName>
                                        </p:attrNameLst>
                                      </p:cBhvr>
                                    </p:animMotion>
                                  </p:childTnLst>
                                </p:cTn>
                              </p:par>
                              <p:par>
                                <p:cTn id="29" presetID="0" presetClass="path" presetSubtype="0" fill="hold" grpId="2" nodeType="withEffect">
                                  <p:stCondLst>
                                    <p:cond delay="0"/>
                                  </p:stCondLst>
                                  <p:childTnLst>
                                    <p:animMotion origin="layout" path="M 0 0 L 0.0122396 -4.36269 " pathEditMode="relative" ptsTypes="">
                                      <p:cBhvr>
                                        <p:cTn id="30" dur="15000" fill="hold"/>
                                        <p:tgtEl>
                                          <p:spTgt spid="3">
                                            <p:txEl>
                                              <p:pRg st="18" end="18"/>
                                            </p:txEl>
                                          </p:spTgt>
                                        </p:tgtEl>
                                        <p:attrNameLst>
                                          <p:attrName>ppt_x</p:attrName>
                                          <p:attrName>ppt_y</p:attrName>
                                        </p:attrNameLst>
                                      </p:cBhvr>
                                    </p:animMotion>
                                  </p:childTnLst>
                                </p:cTn>
                              </p:par>
                              <p:par>
                                <p:cTn id="31" presetID="0" presetClass="path" presetSubtype="0" fill="hold" grpId="2" nodeType="withEffect">
                                  <p:stCondLst>
                                    <p:cond delay="0"/>
                                  </p:stCondLst>
                                  <p:childTnLst>
                                    <p:animMotion origin="layout" path="M 0 0 L 0.0122396 -4.36269 " pathEditMode="relative" ptsTypes="">
                                      <p:cBhvr>
                                        <p:cTn id="32" dur="15000" fill="hold"/>
                                        <p:tgtEl>
                                          <p:spTgt spid="3">
                                            <p:txEl>
                                              <p:pRg st="19" end="19"/>
                                            </p:txEl>
                                          </p:spTgt>
                                        </p:tgtEl>
                                        <p:attrNameLst>
                                          <p:attrName>ppt_x</p:attrName>
                                          <p:attrName>ppt_y</p:attrName>
                                        </p:attrNameLst>
                                      </p:cBhvr>
                                    </p:animMotion>
                                  </p:childTnLst>
                                </p:cTn>
                              </p:par>
                              <p:par>
                                <p:cTn id="33" presetID="0" presetClass="path" presetSubtype="0" fill="hold" grpId="2" nodeType="withEffect">
                                  <p:stCondLst>
                                    <p:cond delay="0"/>
                                  </p:stCondLst>
                                  <p:childTnLst>
                                    <p:animMotion origin="layout" path="M 0 0 L 0.0122396 -4.36269 " pathEditMode="relative" ptsTypes="">
                                      <p:cBhvr>
                                        <p:cTn id="34" dur="15000" fill="hold"/>
                                        <p:tgtEl>
                                          <p:spTgt spid="3">
                                            <p:txEl>
                                              <p:pRg st="20" end="20"/>
                                            </p:txEl>
                                          </p:spTgt>
                                        </p:tgtEl>
                                        <p:attrNameLst>
                                          <p:attrName>ppt_x</p:attrName>
                                          <p:attrName>ppt_y</p:attrName>
                                        </p:attrNameLst>
                                      </p:cBhvr>
                                    </p:animMotion>
                                  </p:childTnLst>
                                </p:cTn>
                              </p:par>
                              <p:par>
                                <p:cTn id="35" presetID="0" presetClass="path" presetSubtype="0" fill="hold" grpId="2" nodeType="withEffect">
                                  <p:stCondLst>
                                    <p:cond delay="0"/>
                                  </p:stCondLst>
                                  <p:childTnLst>
                                    <p:animMotion origin="layout" path="M 0 0 L 0.0122396 -4.36269 " pathEditMode="relative" ptsTypes="">
                                      <p:cBhvr>
                                        <p:cTn id="36" dur="15000" fill="hold"/>
                                        <p:tgtEl>
                                          <p:spTgt spid="3">
                                            <p:txEl>
                                              <p:pRg st="21" end="21"/>
                                            </p:txEl>
                                          </p:spTgt>
                                        </p:tgtEl>
                                        <p:attrNameLst>
                                          <p:attrName>ppt_x</p:attrName>
                                          <p:attrName>ppt_y</p:attrName>
                                        </p:attrNameLst>
                                      </p:cBhvr>
                                    </p:animMotion>
                                  </p:childTnLst>
                                </p:cTn>
                              </p:par>
                              <p:par>
                                <p:cTn id="37" presetID="0" presetClass="path" presetSubtype="0" fill="hold" grpId="2" nodeType="withEffect">
                                  <p:stCondLst>
                                    <p:cond delay="0"/>
                                  </p:stCondLst>
                                  <p:childTnLst>
                                    <p:animMotion origin="layout" path="M 0 0 L 0.0122396 -4.36269 " pathEditMode="relative" ptsTypes="">
                                      <p:cBhvr>
                                        <p:cTn id="38" dur="15000" fill="hold"/>
                                        <p:tgtEl>
                                          <p:spTgt spid="3">
                                            <p:txEl>
                                              <p:pRg st="22" end="22"/>
                                            </p:txEl>
                                          </p:spTgt>
                                        </p:tgtEl>
                                        <p:attrNameLst>
                                          <p:attrName>ppt_x</p:attrName>
                                          <p:attrName>ppt_y</p:attrName>
                                        </p:attrNameLst>
                                      </p:cBhvr>
                                    </p:animMotion>
                                  </p:childTnLst>
                                </p:cTn>
                              </p:par>
                              <p:par>
                                <p:cTn id="39" presetID="0" presetClass="path" presetSubtype="0" fill="hold" grpId="2" nodeType="withEffect">
                                  <p:stCondLst>
                                    <p:cond delay="0"/>
                                  </p:stCondLst>
                                  <p:childTnLst>
                                    <p:animMotion origin="layout" path="M 0 0 L 0.0122396 -4.36269 " pathEditMode="relative" ptsTypes="">
                                      <p:cBhvr>
                                        <p:cTn id="40" dur="15000" fill="hold"/>
                                        <p:tgtEl>
                                          <p:spTgt spid="3">
                                            <p:txEl>
                                              <p:pRg st="23" end="23"/>
                                            </p:txEl>
                                          </p:spTgt>
                                        </p:tgtEl>
                                        <p:attrNameLst>
                                          <p:attrName>ppt_x</p:attrName>
                                          <p:attrName>ppt_y</p:attrName>
                                        </p:attrNameLst>
                                      </p:cBhvr>
                                    </p:animMotion>
                                  </p:childTnLst>
                                </p:cTn>
                              </p:par>
                              <p:par>
                                <p:cTn id="41" presetID="0" presetClass="path" presetSubtype="0" fill="hold" grpId="2" nodeType="withEffect">
                                  <p:stCondLst>
                                    <p:cond delay="0"/>
                                  </p:stCondLst>
                                  <p:childTnLst>
                                    <p:animMotion origin="layout" path="M 0 0 L 0.0122396 -4.36269 " pathEditMode="relative" ptsTypes="">
                                      <p:cBhvr>
                                        <p:cTn id="42" dur="15000" fill="hold"/>
                                        <p:tgtEl>
                                          <p:spTgt spid="3">
                                            <p:txEl>
                                              <p:pRg st="24" end="24"/>
                                            </p:txEl>
                                          </p:spTgt>
                                        </p:tgtEl>
                                        <p:attrNameLst>
                                          <p:attrName>ppt_x</p:attrName>
                                          <p:attrName>ppt_y</p:attrName>
                                        </p:attrNameLst>
                                      </p:cBhvr>
                                    </p:animMotion>
                                  </p:childTnLst>
                                </p:cTn>
                              </p:par>
                              <p:par>
                                <p:cTn id="43" presetID="0" presetClass="path" presetSubtype="0" fill="hold" grpId="2" nodeType="withEffect">
                                  <p:stCondLst>
                                    <p:cond delay="0"/>
                                  </p:stCondLst>
                                  <p:childTnLst>
                                    <p:animMotion origin="layout" path="M 0 0 L 0.0122396 -4.36269 " pathEditMode="relative" ptsTypes="">
                                      <p:cBhvr>
                                        <p:cTn id="44" dur="15000" fill="hold"/>
                                        <p:tgtEl>
                                          <p:spTgt spid="3">
                                            <p:txEl>
                                              <p:pRg st="25" end="25"/>
                                            </p:txEl>
                                          </p:spTgt>
                                        </p:tgtEl>
                                        <p:attrNameLst>
                                          <p:attrName>ppt_x</p:attrName>
                                          <p:attrName>ppt_y</p:attrName>
                                        </p:attrNameLst>
                                      </p:cBhvr>
                                    </p:animMotion>
                                  </p:childTnLst>
                                </p:cTn>
                              </p:par>
                              <p:par>
                                <p:cTn id="45" presetID="0" presetClass="path" presetSubtype="0" fill="hold" grpId="2" nodeType="withEffect">
                                  <p:stCondLst>
                                    <p:cond delay="0"/>
                                  </p:stCondLst>
                                  <p:childTnLst>
                                    <p:animMotion origin="layout" path="M 0 0 L 0.0122396 -4.36269 " pathEditMode="relative" ptsTypes="">
                                      <p:cBhvr>
                                        <p:cTn id="46" dur="15000" fill="hold"/>
                                        <p:tgtEl>
                                          <p:spTgt spid="3">
                                            <p:txEl>
                                              <p:pRg st="26" end="26"/>
                                            </p:txEl>
                                          </p:spTgt>
                                        </p:tgtEl>
                                        <p:attrNameLst>
                                          <p:attrName>ppt_x</p:attrName>
                                          <p:attrName>ppt_y</p:attrName>
                                        </p:attrNameLst>
                                      </p:cBhvr>
                                    </p:animMotion>
                                  </p:childTnLst>
                                </p:cTn>
                              </p:par>
                              <p:par>
                                <p:cTn id="47" presetID="0" presetClass="path" presetSubtype="0" fill="hold" grpId="2" nodeType="withEffect">
                                  <p:stCondLst>
                                    <p:cond delay="0"/>
                                  </p:stCondLst>
                                  <p:childTnLst>
                                    <p:animMotion origin="layout" path="M 0 0 L 0.0122396 -4.36269 " pathEditMode="relative" ptsTypes="">
                                      <p:cBhvr>
                                        <p:cTn id="48" dur="15000" fill="hold"/>
                                        <p:tgtEl>
                                          <p:spTgt spid="3">
                                            <p:txEl>
                                              <p:pRg st="27" end="27"/>
                                            </p:txEl>
                                          </p:spTgt>
                                        </p:tgtEl>
                                        <p:attrNameLst>
                                          <p:attrName>ppt_x</p:attrName>
                                          <p:attrName>ppt_y</p:attrName>
                                        </p:attrNameLst>
                                      </p:cBhvr>
                                    </p:animMotion>
                                  </p:childTnLst>
                                </p:cTn>
                              </p:par>
                              <p:par>
                                <p:cTn id="49" presetID="0" presetClass="path" presetSubtype="0" fill="hold" grpId="2" nodeType="withEffect">
                                  <p:stCondLst>
                                    <p:cond delay="0"/>
                                  </p:stCondLst>
                                  <p:childTnLst>
                                    <p:animMotion origin="layout" path="M 0 0 L 0.0122396 -4.36269 " pathEditMode="relative" ptsTypes="">
                                      <p:cBhvr>
                                        <p:cTn id="50" dur="15000" fill="hold"/>
                                        <p:tgtEl>
                                          <p:spTgt spid="3">
                                            <p:txEl>
                                              <p:pRg st="28" end="28"/>
                                            </p:txEl>
                                          </p:spTgt>
                                        </p:tgtEl>
                                        <p:attrNameLst>
                                          <p:attrName>ppt_x</p:attrName>
                                          <p:attrName>ppt_y</p:attrName>
                                        </p:attrNameLst>
                                      </p:cBhvr>
                                    </p:animMotion>
                                  </p:childTnLst>
                                </p:cTn>
                              </p:par>
                              <p:par>
                                <p:cTn id="51" presetID="0" presetClass="path" presetSubtype="0" fill="hold" grpId="2" nodeType="withEffect">
                                  <p:stCondLst>
                                    <p:cond delay="0"/>
                                  </p:stCondLst>
                                  <p:childTnLst>
                                    <p:animMotion origin="layout" path="M 0 0 L 0.0122396 -4.36269 " pathEditMode="relative" ptsTypes="">
                                      <p:cBhvr>
                                        <p:cTn id="52" dur="15000" fill="hold"/>
                                        <p:tgtEl>
                                          <p:spTgt spid="3">
                                            <p:txEl>
                                              <p:pRg st="29" end="29"/>
                                            </p:txEl>
                                          </p:spTgt>
                                        </p:tgtEl>
                                        <p:attrNameLst>
                                          <p:attrName>ppt_x</p:attrName>
                                          <p:attrName>ppt_y</p:attrName>
                                        </p:attrNameLst>
                                      </p:cBhvr>
                                    </p:animMotion>
                                  </p:childTnLst>
                                </p:cTn>
                              </p:par>
                              <p:par>
                                <p:cTn id="53" presetID="0" presetClass="path" presetSubtype="0" fill="hold" grpId="2" nodeType="withEffect">
                                  <p:stCondLst>
                                    <p:cond delay="0"/>
                                  </p:stCondLst>
                                  <p:childTnLst>
                                    <p:animMotion origin="layout" path="M 0 0 L 0.0122396 -4.36269 " pathEditMode="relative" ptsTypes="">
                                      <p:cBhvr>
                                        <p:cTn id="54" dur="15000" fill="hold"/>
                                        <p:tgtEl>
                                          <p:spTgt spid="3">
                                            <p:txEl>
                                              <p:pRg st="30" end="30"/>
                                            </p:txEl>
                                          </p:spTgt>
                                        </p:tgtEl>
                                        <p:attrNameLst>
                                          <p:attrName>ppt_x</p:attrName>
                                          <p:attrName>ppt_y</p:attrName>
                                        </p:attrNameLst>
                                      </p:cBhvr>
                                    </p:animMotion>
                                  </p:childTnLst>
                                </p:cTn>
                              </p:par>
                              <p:par>
                                <p:cTn id="55" presetID="0" presetClass="path" presetSubtype="0" fill="hold" grpId="2" nodeType="withEffect">
                                  <p:stCondLst>
                                    <p:cond delay="0"/>
                                  </p:stCondLst>
                                  <p:childTnLst>
                                    <p:animMotion origin="layout" path="M 0 0 L 0.0122396 -4.36269 " pathEditMode="relative" ptsTypes="">
                                      <p:cBhvr>
                                        <p:cTn id="56" dur="15000" fill="hold"/>
                                        <p:tgtEl>
                                          <p:spTgt spid="3">
                                            <p:txEl>
                                              <p:pRg st="31" end="31"/>
                                            </p:txEl>
                                          </p:spTgt>
                                        </p:tgtEl>
                                        <p:attrNameLst>
                                          <p:attrName>ppt_x</p:attrName>
                                          <p:attrName>ppt_y</p:attrName>
                                        </p:attrNameLst>
                                      </p:cBhvr>
                                    </p:animMotion>
                                  </p:childTnLst>
                                </p:cTn>
                              </p:par>
                              <p:par>
                                <p:cTn id="57" presetID="0" presetClass="path" presetSubtype="0" fill="hold" grpId="2" nodeType="withEffect">
                                  <p:stCondLst>
                                    <p:cond delay="0"/>
                                  </p:stCondLst>
                                  <p:childTnLst>
                                    <p:animMotion origin="layout" path="M 0 0 L 0.0122396 -4.36269 " pathEditMode="relative" ptsTypes="">
                                      <p:cBhvr>
                                        <p:cTn id="58" dur="15000" fill="hold"/>
                                        <p:tgtEl>
                                          <p:spTgt spid="3">
                                            <p:txEl>
                                              <p:pRg st="32" end="32"/>
                                            </p:txEl>
                                          </p:spTgt>
                                        </p:tgtEl>
                                        <p:attrNameLst>
                                          <p:attrName>ppt_x</p:attrName>
                                          <p:attrName>ppt_y</p:attrName>
                                        </p:attrNameLst>
                                      </p:cBhvr>
                                    </p:animMotion>
                                  </p:childTnLst>
                                </p:cTn>
                              </p:par>
                              <p:par>
                                <p:cTn id="59" presetID="0" presetClass="path" presetSubtype="0" fill="hold" grpId="2" nodeType="withEffect">
                                  <p:stCondLst>
                                    <p:cond delay="0"/>
                                  </p:stCondLst>
                                  <p:childTnLst>
                                    <p:animMotion origin="layout" path="M 0 0 L 0.0122396 -4.36269 " pathEditMode="relative" ptsTypes="">
                                      <p:cBhvr>
                                        <p:cTn id="60" dur="15000" fill="hold"/>
                                        <p:tgtEl>
                                          <p:spTgt spid="3">
                                            <p:txEl>
                                              <p:pRg st="33" end="33"/>
                                            </p:txEl>
                                          </p:spTgt>
                                        </p:tgtEl>
                                        <p:attrNameLst>
                                          <p:attrName>ppt_x</p:attrName>
                                          <p:attrName>ppt_y</p:attrName>
                                        </p:attrNameLst>
                                      </p:cBhvr>
                                    </p:animMotion>
                                  </p:childTnLst>
                                </p:cTn>
                              </p:par>
                              <p:par>
                                <p:cTn id="61" presetID="0" presetClass="path" presetSubtype="0" fill="hold" grpId="2" nodeType="withEffect">
                                  <p:stCondLst>
                                    <p:cond delay="0"/>
                                  </p:stCondLst>
                                  <p:childTnLst>
                                    <p:animMotion origin="layout" path="M 0 0 L 0.0122396 -4.36269 " pathEditMode="relative" ptsTypes="">
                                      <p:cBhvr>
                                        <p:cTn id="62" dur="15000" fill="hold"/>
                                        <p:tgtEl>
                                          <p:spTgt spid="3">
                                            <p:txEl>
                                              <p:pRg st="34" end="34"/>
                                            </p:txEl>
                                          </p:spTgt>
                                        </p:tgtEl>
                                        <p:attrNameLst>
                                          <p:attrName>ppt_x</p:attrName>
                                          <p:attrName>ppt_y</p:attrName>
                                        </p:attrNameLst>
                                      </p:cBhvr>
                                    </p:animMotion>
                                  </p:childTnLst>
                                </p:cTn>
                              </p:par>
                              <p:par>
                                <p:cTn id="63" presetID="0" presetClass="path" presetSubtype="0" fill="hold" grpId="2" nodeType="withEffect">
                                  <p:stCondLst>
                                    <p:cond delay="0"/>
                                  </p:stCondLst>
                                  <p:childTnLst>
                                    <p:animMotion origin="layout" path="M 0 0 L 0.0122396 -4.36269 " pathEditMode="relative" ptsTypes="">
                                      <p:cBhvr>
                                        <p:cTn id="64" dur="15000" fill="hold"/>
                                        <p:tgtEl>
                                          <p:spTgt spid="3">
                                            <p:txEl>
                                              <p:pRg st="35" end="35"/>
                                            </p:txEl>
                                          </p:spTgt>
                                        </p:tgtEl>
                                        <p:attrNameLst>
                                          <p:attrName>ppt_x</p:attrName>
                                          <p:attrName>ppt_y</p:attrName>
                                        </p:attrNameLst>
                                      </p:cBhvr>
                                    </p:animMotion>
                                  </p:childTnLst>
                                </p:cTn>
                              </p:par>
                              <p:par>
                                <p:cTn id="65" presetID="0" presetClass="path" presetSubtype="0" fill="hold" grpId="2" nodeType="withEffect">
                                  <p:stCondLst>
                                    <p:cond delay="0"/>
                                  </p:stCondLst>
                                  <p:childTnLst>
                                    <p:animMotion origin="layout" path="M 0 0 L 0.0122396 -4.36269 " pathEditMode="relative" ptsTypes="">
                                      <p:cBhvr>
                                        <p:cTn id="66" dur="15000" fill="hold"/>
                                        <p:tgtEl>
                                          <p:spTgt spid="3">
                                            <p:txEl>
                                              <p:pRg st="36" end="36"/>
                                            </p:txEl>
                                          </p:spTgt>
                                        </p:tgtEl>
                                        <p:attrNameLst>
                                          <p:attrName>ppt_x</p:attrName>
                                          <p:attrName>ppt_y</p:attrName>
                                        </p:attrNameLst>
                                      </p:cBhvr>
                                    </p:animMotion>
                                  </p:childTnLst>
                                </p:cTn>
                              </p:par>
                              <p:par>
                                <p:cTn id="67" presetID="0" presetClass="path" presetSubtype="0" fill="hold" grpId="2" nodeType="withEffect">
                                  <p:stCondLst>
                                    <p:cond delay="0"/>
                                  </p:stCondLst>
                                  <p:childTnLst>
                                    <p:animMotion origin="layout" path="M 0 0 L 0.0122396 -4.36269 " pathEditMode="relative" ptsTypes="">
                                      <p:cBhvr>
                                        <p:cTn id="68" dur="15000" fill="hold"/>
                                        <p:tgtEl>
                                          <p:spTgt spid="3">
                                            <p:txEl>
                                              <p:pRg st="37" end="37"/>
                                            </p:txEl>
                                          </p:spTgt>
                                        </p:tgtEl>
                                        <p:attrNameLst>
                                          <p:attrName>ppt_x</p:attrName>
                                          <p:attrName>ppt_y</p:attrName>
                                        </p:attrNameLst>
                                      </p:cBhvr>
                                    </p:animMotion>
                                  </p:childTnLst>
                                </p:cTn>
                              </p:par>
                              <p:par>
                                <p:cTn id="69" presetID="0" presetClass="path" presetSubtype="0" fill="hold" grpId="2" nodeType="withEffect">
                                  <p:stCondLst>
                                    <p:cond delay="0"/>
                                  </p:stCondLst>
                                  <p:childTnLst>
                                    <p:animMotion origin="layout" path="M 0 0 L 0.0122396 -4.36269 " pathEditMode="relative" ptsTypes="">
                                      <p:cBhvr>
                                        <p:cTn id="70" dur="15000" fill="hold"/>
                                        <p:tgtEl>
                                          <p:spTgt spid="3">
                                            <p:txEl>
                                              <p:pRg st="38" end="38"/>
                                            </p:txEl>
                                          </p:spTgt>
                                        </p:tgtEl>
                                        <p:attrNameLst>
                                          <p:attrName>ppt_x</p:attrName>
                                          <p:attrName>ppt_y</p:attrName>
                                        </p:attrNameLst>
                                      </p:cBhvr>
                                    </p:animMotion>
                                  </p:childTnLst>
                                </p:cTn>
                              </p:par>
                              <p:par>
                                <p:cTn id="71" presetID="0" presetClass="path" presetSubtype="0" fill="hold" grpId="2" nodeType="withEffect">
                                  <p:stCondLst>
                                    <p:cond delay="0"/>
                                  </p:stCondLst>
                                  <p:childTnLst>
                                    <p:animMotion origin="layout" path="M 0 0 L 0.0122396 -4.36269 " pathEditMode="relative" ptsTypes="">
                                      <p:cBhvr>
                                        <p:cTn id="72" dur="15000" fill="hold"/>
                                        <p:tgtEl>
                                          <p:spTgt spid="3">
                                            <p:txEl>
                                              <p:pRg st="39" end="39"/>
                                            </p:txEl>
                                          </p:spTgt>
                                        </p:tgtEl>
                                        <p:attrNameLst>
                                          <p:attrName>ppt_x</p:attrName>
                                          <p:attrName>ppt_y</p:attrName>
                                        </p:attrNameLst>
                                      </p:cBhvr>
                                    </p:animMotion>
                                  </p:childTnLst>
                                </p:cTn>
                              </p:par>
                              <p:par>
                                <p:cTn id="73" presetID="0" presetClass="path" presetSubtype="0" fill="hold" grpId="2" nodeType="withEffect">
                                  <p:stCondLst>
                                    <p:cond delay="0"/>
                                  </p:stCondLst>
                                  <p:childTnLst>
                                    <p:animMotion origin="layout" path="M 0 0 L 0.0122396 -4.36269 " pathEditMode="relative" ptsTypes="">
                                      <p:cBhvr>
                                        <p:cTn id="74" dur="15000" fill="hold"/>
                                        <p:tgtEl>
                                          <p:spTgt spid="3">
                                            <p:txEl>
                                              <p:pRg st="40" end="40"/>
                                            </p:txEl>
                                          </p:spTgt>
                                        </p:tgtEl>
                                        <p:attrNameLst>
                                          <p:attrName>ppt_x</p:attrName>
                                          <p:attrName>ppt_y</p:attrName>
                                        </p:attrNameLst>
                                      </p:cBhvr>
                                    </p:animMotion>
                                  </p:childTnLst>
                                </p:cTn>
                              </p:par>
                              <p:par>
                                <p:cTn id="75" presetID="0" presetClass="path" presetSubtype="0" fill="hold" grpId="2" nodeType="withEffect">
                                  <p:stCondLst>
                                    <p:cond delay="0"/>
                                  </p:stCondLst>
                                  <p:childTnLst>
                                    <p:animMotion origin="layout" path="M 0 0 L 0.0122396 -4.36269 " pathEditMode="relative" ptsTypes="">
                                      <p:cBhvr>
                                        <p:cTn id="76" dur="15000" fill="hold"/>
                                        <p:tgtEl>
                                          <p:spTgt spid="3">
                                            <p:txEl>
                                              <p:pRg st="41" end="41"/>
                                            </p:txEl>
                                          </p:spTgt>
                                        </p:tgtEl>
                                        <p:attrNameLst>
                                          <p:attrName>ppt_x</p:attrName>
                                          <p:attrName>ppt_y</p:attrName>
                                        </p:attrNameLst>
                                      </p:cBhvr>
                                    </p:animMotion>
                                  </p:childTnLst>
                                </p:cTn>
                              </p:par>
                              <p:par>
                                <p:cTn id="77" presetID="0" presetClass="path" presetSubtype="0" fill="hold" grpId="2" nodeType="withEffect">
                                  <p:stCondLst>
                                    <p:cond delay="0"/>
                                  </p:stCondLst>
                                  <p:childTnLst>
                                    <p:animMotion origin="layout" path="M 0 0 L 0.0122396 -4.36269 " pathEditMode="relative" ptsTypes="">
                                      <p:cBhvr>
                                        <p:cTn id="78" dur="15000" fill="hold"/>
                                        <p:tgtEl>
                                          <p:spTgt spid="3">
                                            <p:txEl>
                                              <p:pRg st="42" end="42"/>
                                            </p:txEl>
                                          </p:spTgt>
                                        </p:tgtEl>
                                        <p:attrNameLst>
                                          <p:attrName>ppt_x</p:attrName>
                                          <p:attrName>ppt_y</p:attrName>
                                        </p:attrNameLst>
                                      </p:cBhvr>
                                    </p:animMotion>
                                  </p:childTnLst>
                                </p:cTn>
                              </p:par>
                              <p:par>
                                <p:cTn id="79" presetID="0" presetClass="path" presetSubtype="0" fill="hold" grpId="2" nodeType="withEffect">
                                  <p:stCondLst>
                                    <p:cond delay="0"/>
                                  </p:stCondLst>
                                  <p:childTnLst>
                                    <p:animMotion origin="layout" path="M 0 0 L 0.0122396 -4.36269 " pathEditMode="relative" ptsTypes="">
                                      <p:cBhvr>
                                        <p:cTn id="80" dur="15000" fill="hold"/>
                                        <p:tgtEl>
                                          <p:spTgt spid="3">
                                            <p:txEl>
                                              <p:pRg st="43" end="43"/>
                                            </p:txEl>
                                          </p:spTgt>
                                        </p:tgtEl>
                                        <p:attrNameLst>
                                          <p:attrName>ppt_x</p:attrName>
                                          <p:attrName>ppt_y</p:attrName>
                                        </p:attrNameLst>
                                      </p:cBhvr>
                                    </p:animMotion>
                                  </p:childTnLst>
                                </p:cTn>
                              </p:par>
                              <p:par>
                                <p:cTn id="81" presetID="0" presetClass="path" presetSubtype="0" fill="hold" grpId="2" nodeType="withEffect">
                                  <p:stCondLst>
                                    <p:cond delay="0"/>
                                  </p:stCondLst>
                                  <p:childTnLst>
                                    <p:animMotion origin="layout" path="M 0 0 L 0.0122396 -4.36269 " pathEditMode="relative" ptsTypes="">
                                      <p:cBhvr>
                                        <p:cTn id="82" dur="15000" fill="hold"/>
                                        <p:tgtEl>
                                          <p:spTgt spid="3">
                                            <p:txEl>
                                              <p:pRg st="44" end="44"/>
                                            </p:txEl>
                                          </p:spTgt>
                                        </p:tgtEl>
                                        <p:attrNameLst>
                                          <p:attrName>ppt_x</p:attrName>
                                          <p:attrName>ppt_y</p:attrName>
                                        </p:attrNameLst>
                                      </p:cBhvr>
                                    </p:animMotion>
                                  </p:childTnLst>
                                </p:cTn>
                              </p:par>
                              <p:par>
                                <p:cTn id="83" presetID="0" presetClass="path" presetSubtype="0" accel="50000" decel="50000" fill="hold" grpId="0" nodeType="withEffect">
                                  <p:stCondLst>
                                    <p:cond delay="0"/>
                                  </p:stCondLst>
                                  <p:childTnLst>
                                    <p:animMotion origin="layout" path="M 0 0 L 0.00307292 -3.38778 " pathEditMode="relative" ptsTypes="">
                                      <p:cBhvr>
                                        <p:cTn id="84" dur="2000" fill="hold"/>
                                        <p:tgtEl>
                                          <p:spTgt spid="8"/>
                                        </p:tgtEl>
                                        <p:attrNameLst>
                                          <p:attrName>ppt_x</p:attrName>
                                          <p:attrName>ppt_y</p:attrName>
                                        </p:attrNameLst>
                                      </p:cBhvr>
                                    </p:animMotion>
                                  </p:childTnLst>
                                </p:cTn>
                              </p:par>
                              <p:par>
                                <p:cTn id="85" presetID="0" presetClass="path" presetSubtype="0" fill="hold" grpId="0" nodeType="withEffect">
                                  <p:stCondLst>
                                    <p:cond delay="0"/>
                                  </p:stCondLst>
                                  <p:childTnLst>
                                    <p:animMotion origin="layout" path="M 0 0 L 0.0260417 -5.0463 " pathEditMode="relative" ptsTypes="">
                                      <p:cBhvr>
                                        <p:cTn id="86" dur="20000" fill="hold"/>
                                        <p:tgtEl>
                                          <p:spTgt spid="7"/>
                                        </p:tgtEl>
                                        <p:attrNameLst>
                                          <p:attrName>ppt_x</p:attrName>
                                          <p:attrName>ppt_y</p:attrName>
                                        </p:attrNameLst>
                                      </p:cBhvr>
                                    </p:animMotion>
                                  </p:childTnLst>
                                </p:cTn>
                              </p:par>
                              <p:par>
                                <p:cTn id="87" presetID="0" presetClass="path" presetSubtype="0" fill="hold" grpId="0" nodeType="withEffect">
                                  <p:stCondLst>
                                    <p:cond delay="0"/>
                                  </p:stCondLst>
                                  <p:childTnLst>
                                    <p:animMotion origin="layout" path="M 0.0015625 -0.221852 L 0.00203125 -4.87509 " pathEditMode="relative" rAng="0" ptsTypes="">
                                      <p:cBhvr>
                                        <p:cTn id="88" dur="21000" fill="hold"/>
                                        <p:tgtEl>
                                          <p:spTgt spid="2"/>
                                        </p:tgtEl>
                                        <p:attrNameLst>
                                          <p:attrName>ppt_x</p:attrName>
                                          <p:attrName>ppt_y</p:attrName>
                                        </p:attrNameLst>
                                      </p:cBhvr>
                                      <p:rCtr x="-20" y="-232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P spid="3" grpId="2" bldLvl="0" uiExpand="1" build="allAtOnce"/>
      <p:bldP spid="8" grpId="0"/>
      <p:bldP spid="7" grpId="0"/>
      <p:bldP spid="2" grpId="0"/>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commondata" val="eyJoZGlkIjoiY2EyYjcxNGJlYTU3YjA4ZDJhYjlhOWM3YjlhZGZhMzMifQ=="/>
  <p:tag name="KSO_WPP_MARK_KEY" val="b3001cbf-cb4a-4cee-a7b3-a4affc3f704c"/>
  <p:tag name="COMMONDATA" val="eyJoZGlkIjoiZWVlYTVhZGEyYjU2YTQ2M2QyMGYxMjFjMjgwNmM1NTgifQ=="/>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5956</Words>
  <Application>WPS 演示</Application>
  <PresentationFormat>宽屏</PresentationFormat>
  <Paragraphs>133</Paragraphs>
  <Slides>7</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vt:i4>
      </vt:variant>
    </vt:vector>
  </HeadingPairs>
  <TitlesOfParts>
    <vt:vector size="16" baseType="lpstr">
      <vt:lpstr>Arial</vt:lpstr>
      <vt:lpstr>宋体</vt:lpstr>
      <vt:lpstr>Wingdings</vt:lpstr>
      <vt:lpstr>Wingdings</vt:lpstr>
      <vt:lpstr>微软雅黑</vt:lpstr>
      <vt:lpstr>方正舒体</vt:lpstr>
      <vt:lpstr>Arial Unicode MS</vt:lpstr>
      <vt:lpstr>Calibri</vt:lpstr>
      <vt:lpstr>WPS</vt:lpstr>
      <vt:lpstr>PowerPoint 演示文稿</vt:lpstr>
      <vt:lpstr>战争的对欧洲的影响</vt:lpstr>
      <vt:lpstr>对宗教的影响</vt:lpstr>
      <vt:lpstr>战争的一般影响</vt:lpstr>
      <vt:lpstr>《威斯特伐利亚和约》      的签订</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宇&amp;轩</cp:lastModifiedBy>
  <cp:revision>161</cp:revision>
  <dcterms:created xsi:type="dcterms:W3CDTF">2019-06-19T02:08:00Z</dcterms:created>
  <dcterms:modified xsi:type="dcterms:W3CDTF">2023-11-09T15:07:05Z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F75491AD63E3460E8E31138BE0BD0A2D_12</vt:lpwstr>
  </property>
</Properties>
</file>